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5" r:id="rId7"/>
    <p:sldId id="261" r:id="rId8"/>
    <p:sldId id="262" r:id="rId9"/>
    <p:sldId id="263" r:id="rId10"/>
    <p:sldId id="264" r:id="rId11"/>
    <p:sldId id="271" r:id="rId12"/>
    <p:sldId id="273" r:id="rId13"/>
    <p:sldId id="272" r:id="rId14"/>
    <p:sldId id="274" r:id="rId15"/>
    <p:sldId id="267" r:id="rId16"/>
    <p:sldId id="269" r:id="rId17"/>
    <p:sldId id="270" r:id="rId18"/>
    <p:sldId id="275"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884F0"/>
    <a:srgbClr val="C9CFF9"/>
    <a:srgbClr val="0E4380"/>
    <a:srgbClr val="04A4D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558"/>
  </p:normalViewPr>
  <p:slideViewPr>
    <p:cSldViewPr snapToGrid="0">
      <p:cViewPr varScale="1">
        <p:scale>
          <a:sx n="121" d="100"/>
          <a:sy n="121" d="100"/>
        </p:scale>
        <p:origin x="744"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5E7683-07DB-22C1-01DE-4D713F70108B}"/>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578B560D-3929-6F03-CB11-2DFE788A732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ACD34108-6DA2-5996-006D-48BFA933B267}"/>
              </a:ext>
            </a:extLst>
          </p:cNvPr>
          <p:cNvSpPr>
            <a:spLocks noGrp="1"/>
          </p:cNvSpPr>
          <p:nvPr>
            <p:ph type="dt" sz="half" idx="10"/>
          </p:nvPr>
        </p:nvSpPr>
        <p:spPr/>
        <p:txBody>
          <a:bodyPr/>
          <a:lstStyle/>
          <a:p>
            <a:fld id="{9B89C35C-3EE5-A246-A952-3D5E785B1FEE}" type="datetimeFigureOut">
              <a:rPr lang="en-US" smtClean="0"/>
              <a:t>1/28/26</a:t>
            </a:fld>
            <a:endParaRPr lang="en-US"/>
          </a:p>
        </p:txBody>
      </p:sp>
      <p:sp>
        <p:nvSpPr>
          <p:cNvPr id="5" name="Footer Placeholder 4">
            <a:extLst>
              <a:ext uri="{FF2B5EF4-FFF2-40B4-BE49-F238E27FC236}">
                <a16:creationId xmlns:a16="http://schemas.microsoft.com/office/drawing/2014/main" id="{7A22A89E-A7A3-8F68-90D6-30536BCDE01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77FAB8D-E194-7123-A9CF-40EDEB50BFF1}"/>
              </a:ext>
            </a:extLst>
          </p:cNvPr>
          <p:cNvSpPr>
            <a:spLocks noGrp="1"/>
          </p:cNvSpPr>
          <p:nvPr>
            <p:ph type="sldNum" sz="quarter" idx="12"/>
          </p:nvPr>
        </p:nvSpPr>
        <p:spPr/>
        <p:txBody>
          <a:bodyPr/>
          <a:lstStyle/>
          <a:p>
            <a:fld id="{F5A17286-28A6-D24D-8961-6048BD44EA0B}" type="slidenum">
              <a:rPr lang="en-US" smtClean="0"/>
              <a:t>‹#›</a:t>
            </a:fld>
            <a:endParaRPr lang="en-US"/>
          </a:p>
        </p:txBody>
      </p:sp>
    </p:spTree>
    <p:extLst>
      <p:ext uri="{BB962C8B-B14F-4D97-AF65-F5344CB8AC3E}">
        <p14:creationId xmlns:p14="http://schemas.microsoft.com/office/powerpoint/2010/main" val="38863364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E7AFC-4C45-206B-4457-83BC10037ACE}"/>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D8809C8F-97AA-9CE2-25A1-D5D3EF336B47}"/>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256589CA-6342-3AA0-512A-5B91A9735FEF}"/>
              </a:ext>
            </a:extLst>
          </p:cNvPr>
          <p:cNvSpPr>
            <a:spLocks noGrp="1"/>
          </p:cNvSpPr>
          <p:nvPr>
            <p:ph type="dt" sz="half" idx="10"/>
          </p:nvPr>
        </p:nvSpPr>
        <p:spPr/>
        <p:txBody>
          <a:bodyPr/>
          <a:lstStyle/>
          <a:p>
            <a:fld id="{9B89C35C-3EE5-A246-A952-3D5E785B1FEE}" type="datetimeFigureOut">
              <a:rPr lang="en-US" smtClean="0"/>
              <a:t>1/28/26</a:t>
            </a:fld>
            <a:endParaRPr lang="en-US"/>
          </a:p>
        </p:txBody>
      </p:sp>
      <p:sp>
        <p:nvSpPr>
          <p:cNvPr id="5" name="Footer Placeholder 4">
            <a:extLst>
              <a:ext uri="{FF2B5EF4-FFF2-40B4-BE49-F238E27FC236}">
                <a16:creationId xmlns:a16="http://schemas.microsoft.com/office/drawing/2014/main" id="{D813E1D1-E78C-8436-C5D7-90444211BEA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1C3DB14-AC54-49E7-5DC7-6215EBEF5DEB}"/>
              </a:ext>
            </a:extLst>
          </p:cNvPr>
          <p:cNvSpPr>
            <a:spLocks noGrp="1"/>
          </p:cNvSpPr>
          <p:nvPr>
            <p:ph type="sldNum" sz="quarter" idx="12"/>
          </p:nvPr>
        </p:nvSpPr>
        <p:spPr/>
        <p:txBody>
          <a:bodyPr/>
          <a:lstStyle/>
          <a:p>
            <a:fld id="{F5A17286-28A6-D24D-8961-6048BD44EA0B}" type="slidenum">
              <a:rPr lang="en-US" smtClean="0"/>
              <a:t>‹#›</a:t>
            </a:fld>
            <a:endParaRPr lang="en-US"/>
          </a:p>
        </p:txBody>
      </p:sp>
    </p:spTree>
    <p:extLst>
      <p:ext uri="{BB962C8B-B14F-4D97-AF65-F5344CB8AC3E}">
        <p14:creationId xmlns:p14="http://schemas.microsoft.com/office/powerpoint/2010/main" val="19364724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A9787E-1CF4-BD52-1C87-71F1F6C5C440}"/>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D1BF383D-6C90-ABF4-62EB-CF039038198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472A2C90-C3B0-3851-5482-7F0093A22C5B}"/>
              </a:ext>
            </a:extLst>
          </p:cNvPr>
          <p:cNvSpPr>
            <a:spLocks noGrp="1"/>
          </p:cNvSpPr>
          <p:nvPr>
            <p:ph type="dt" sz="half" idx="10"/>
          </p:nvPr>
        </p:nvSpPr>
        <p:spPr/>
        <p:txBody>
          <a:bodyPr/>
          <a:lstStyle/>
          <a:p>
            <a:fld id="{9B89C35C-3EE5-A246-A952-3D5E785B1FEE}" type="datetimeFigureOut">
              <a:rPr lang="en-US" smtClean="0"/>
              <a:t>1/28/26</a:t>
            </a:fld>
            <a:endParaRPr lang="en-US"/>
          </a:p>
        </p:txBody>
      </p:sp>
      <p:sp>
        <p:nvSpPr>
          <p:cNvPr id="5" name="Footer Placeholder 4">
            <a:extLst>
              <a:ext uri="{FF2B5EF4-FFF2-40B4-BE49-F238E27FC236}">
                <a16:creationId xmlns:a16="http://schemas.microsoft.com/office/drawing/2014/main" id="{E3FEBC0E-B835-F910-8BDB-BCF8E82851E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D35CE5-178C-6933-25A5-9443B55CDEC9}"/>
              </a:ext>
            </a:extLst>
          </p:cNvPr>
          <p:cNvSpPr>
            <a:spLocks noGrp="1"/>
          </p:cNvSpPr>
          <p:nvPr>
            <p:ph type="sldNum" sz="quarter" idx="12"/>
          </p:nvPr>
        </p:nvSpPr>
        <p:spPr/>
        <p:txBody>
          <a:bodyPr/>
          <a:lstStyle/>
          <a:p>
            <a:fld id="{F5A17286-28A6-D24D-8961-6048BD44EA0B}" type="slidenum">
              <a:rPr lang="en-US" smtClean="0"/>
              <a:t>‹#›</a:t>
            </a:fld>
            <a:endParaRPr lang="en-US"/>
          </a:p>
        </p:txBody>
      </p:sp>
    </p:spTree>
    <p:extLst>
      <p:ext uri="{BB962C8B-B14F-4D97-AF65-F5344CB8AC3E}">
        <p14:creationId xmlns:p14="http://schemas.microsoft.com/office/powerpoint/2010/main" val="38794955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11C8FE-58B7-097C-20DB-DBBC2CE2A953}"/>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39E4CA14-57D9-1662-43FF-CEA0EBDE09D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C6BBCF70-0303-599D-C5EE-E12CA654B9D9}"/>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EDA6A9CD-5273-EA8B-D351-427CF9F990F6}"/>
              </a:ext>
            </a:extLst>
          </p:cNvPr>
          <p:cNvSpPr>
            <a:spLocks noGrp="1"/>
          </p:cNvSpPr>
          <p:nvPr>
            <p:ph type="dt" sz="half" idx="10"/>
          </p:nvPr>
        </p:nvSpPr>
        <p:spPr/>
        <p:txBody>
          <a:bodyPr/>
          <a:lstStyle/>
          <a:p>
            <a:fld id="{9B89C35C-3EE5-A246-A952-3D5E785B1FEE}" type="datetimeFigureOut">
              <a:rPr lang="en-US" smtClean="0"/>
              <a:t>1/28/26</a:t>
            </a:fld>
            <a:endParaRPr lang="en-US"/>
          </a:p>
        </p:txBody>
      </p:sp>
      <p:sp>
        <p:nvSpPr>
          <p:cNvPr id="6" name="Footer Placeholder 5">
            <a:extLst>
              <a:ext uri="{FF2B5EF4-FFF2-40B4-BE49-F238E27FC236}">
                <a16:creationId xmlns:a16="http://schemas.microsoft.com/office/drawing/2014/main" id="{A6292064-F3B9-B003-4553-DD1489FB81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AEA426B-C796-3F9C-15E2-7F121183F506}"/>
              </a:ext>
            </a:extLst>
          </p:cNvPr>
          <p:cNvSpPr>
            <a:spLocks noGrp="1"/>
          </p:cNvSpPr>
          <p:nvPr>
            <p:ph type="sldNum" sz="quarter" idx="12"/>
          </p:nvPr>
        </p:nvSpPr>
        <p:spPr/>
        <p:txBody>
          <a:bodyPr/>
          <a:lstStyle/>
          <a:p>
            <a:fld id="{F5A17286-28A6-D24D-8961-6048BD44EA0B}" type="slidenum">
              <a:rPr lang="en-US" smtClean="0"/>
              <a:t>‹#›</a:t>
            </a:fld>
            <a:endParaRPr lang="en-US"/>
          </a:p>
        </p:txBody>
      </p:sp>
    </p:spTree>
    <p:extLst>
      <p:ext uri="{BB962C8B-B14F-4D97-AF65-F5344CB8AC3E}">
        <p14:creationId xmlns:p14="http://schemas.microsoft.com/office/powerpoint/2010/main" val="17966339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1FFAF7-CB1F-4A2D-D49D-3F72D185FE2E}"/>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DF907FA0-34E2-B44A-32ED-23B775B8265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E2E10C0B-072A-5EE2-F60F-8A5A826C8248}"/>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F1018A09-9B22-E968-A8A0-2D7D78CBC25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CD73ED43-F451-C49E-7ED7-EB46E44CAF1D}"/>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44EB9288-13C9-648C-2F5A-DD1271A232BC}"/>
              </a:ext>
            </a:extLst>
          </p:cNvPr>
          <p:cNvSpPr>
            <a:spLocks noGrp="1"/>
          </p:cNvSpPr>
          <p:nvPr>
            <p:ph type="dt" sz="half" idx="10"/>
          </p:nvPr>
        </p:nvSpPr>
        <p:spPr/>
        <p:txBody>
          <a:bodyPr/>
          <a:lstStyle/>
          <a:p>
            <a:fld id="{9B89C35C-3EE5-A246-A952-3D5E785B1FEE}" type="datetimeFigureOut">
              <a:rPr lang="en-US" smtClean="0"/>
              <a:t>1/28/26</a:t>
            </a:fld>
            <a:endParaRPr lang="en-US"/>
          </a:p>
        </p:txBody>
      </p:sp>
      <p:sp>
        <p:nvSpPr>
          <p:cNvPr id="8" name="Footer Placeholder 7">
            <a:extLst>
              <a:ext uri="{FF2B5EF4-FFF2-40B4-BE49-F238E27FC236}">
                <a16:creationId xmlns:a16="http://schemas.microsoft.com/office/drawing/2014/main" id="{C5DCF479-E96E-89AD-D941-C5B82CF9AF2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B1852E6-CEA0-F53B-D0BC-1AC06A47A17D}"/>
              </a:ext>
            </a:extLst>
          </p:cNvPr>
          <p:cNvSpPr>
            <a:spLocks noGrp="1"/>
          </p:cNvSpPr>
          <p:nvPr>
            <p:ph type="sldNum" sz="quarter" idx="12"/>
          </p:nvPr>
        </p:nvSpPr>
        <p:spPr/>
        <p:txBody>
          <a:bodyPr/>
          <a:lstStyle/>
          <a:p>
            <a:fld id="{F5A17286-28A6-D24D-8961-6048BD44EA0B}" type="slidenum">
              <a:rPr lang="en-US" smtClean="0"/>
              <a:t>‹#›</a:t>
            </a:fld>
            <a:endParaRPr lang="en-US"/>
          </a:p>
        </p:txBody>
      </p:sp>
    </p:spTree>
    <p:extLst>
      <p:ext uri="{BB962C8B-B14F-4D97-AF65-F5344CB8AC3E}">
        <p14:creationId xmlns:p14="http://schemas.microsoft.com/office/powerpoint/2010/main" val="40346740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585F8-C585-F340-A7D2-EFA7DB140C81}"/>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119B2D6B-37AA-A1C0-5BC8-54CBC58F0575}"/>
              </a:ext>
            </a:extLst>
          </p:cNvPr>
          <p:cNvSpPr>
            <a:spLocks noGrp="1"/>
          </p:cNvSpPr>
          <p:nvPr>
            <p:ph type="dt" sz="half" idx="10"/>
          </p:nvPr>
        </p:nvSpPr>
        <p:spPr/>
        <p:txBody>
          <a:bodyPr/>
          <a:lstStyle/>
          <a:p>
            <a:fld id="{9B89C35C-3EE5-A246-A952-3D5E785B1FEE}" type="datetimeFigureOut">
              <a:rPr lang="en-US" smtClean="0"/>
              <a:t>1/28/26</a:t>
            </a:fld>
            <a:endParaRPr lang="en-US"/>
          </a:p>
        </p:txBody>
      </p:sp>
      <p:sp>
        <p:nvSpPr>
          <p:cNvPr id="4" name="Footer Placeholder 3">
            <a:extLst>
              <a:ext uri="{FF2B5EF4-FFF2-40B4-BE49-F238E27FC236}">
                <a16:creationId xmlns:a16="http://schemas.microsoft.com/office/drawing/2014/main" id="{A2F98FC9-1B65-608B-23FB-E373B16E671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F112D2C-90FA-E202-0F94-0CAA4A0ED2F0}"/>
              </a:ext>
            </a:extLst>
          </p:cNvPr>
          <p:cNvSpPr>
            <a:spLocks noGrp="1"/>
          </p:cNvSpPr>
          <p:nvPr>
            <p:ph type="sldNum" sz="quarter" idx="12"/>
          </p:nvPr>
        </p:nvSpPr>
        <p:spPr/>
        <p:txBody>
          <a:bodyPr/>
          <a:lstStyle/>
          <a:p>
            <a:fld id="{F5A17286-28A6-D24D-8961-6048BD44EA0B}" type="slidenum">
              <a:rPr lang="en-US" smtClean="0"/>
              <a:t>‹#›</a:t>
            </a:fld>
            <a:endParaRPr lang="en-US"/>
          </a:p>
        </p:txBody>
      </p:sp>
    </p:spTree>
    <p:extLst>
      <p:ext uri="{BB962C8B-B14F-4D97-AF65-F5344CB8AC3E}">
        <p14:creationId xmlns:p14="http://schemas.microsoft.com/office/powerpoint/2010/main" val="19122940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333905B-D06B-7AC9-4E8A-7D9E27CB4B18}"/>
              </a:ext>
            </a:extLst>
          </p:cNvPr>
          <p:cNvSpPr>
            <a:spLocks noGrp="1"/>
          </p:cNvSpPr>
          <p:nvPr>
            <p:ph type="dt" sz="half" idx="10"/>
          </p:nvPr>
        </p:nvSpPr>
        <p:spPr/>
        <p:txBody>
          <a:bodyPr/>
          <a:lstStyle/>
          <a:p>
            <a:fld id="{9B89C35C-3EE5-A246-A952-3D5E785B1FEE}" type="datetimeFigureOut">
              <a:rPr lang="en-US" smtClean="0"/>
              <a:t>1/28/26</a:t>
            </a:fld>
            <a:endParaRPr lang="en-US"/>
          </a:p>
        </p:txBody>
      </p:sp>
      <p:sp>
        <p:nvSpPr>
          <p:cNvPr id="3" name="Footer Placeholder 2">
            <a:extLst>
              <a:ext uri="{FF2B5EF4-FFF2-40B4-BE49-F238E27FC236}">
                <a16:creationId xmlns:a16="http://schemas.microsoft.com/office/drawing/2014/main" id="{CD4A1E20-C8AE-92BC-840D-E8AA1C47592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4F9530C-3E9F-D846-2D35-655AEA9D06DF}"/>
              </a:ext>
            </a:extLst>
          </p:cNvPr>
          <p:cNvSpPr>
            <a:spLocks noGrp="1"/>
          </p:cNvSpPr>
          <p:nvPr>
            <p:ph type="sldNum" sz="quarter" idx="12"/>
          </p:nvPr>
        </p:nvSpPr>
        <p:spPr/>
        <p:txBody>
          <a:bodyPr/>
          <a:lstStyle/>
          <a:p>
            <a:fld id="{F5A17286-28A6-D24D-8961-6048BD44EA0B}" type="slidenum">
              <a:rPr lang="en-US" smtClean="0"/>
              <a:t>‹#›</a:t>
            </a:fld>
            <a:endParaRPr lang="en-US"/>
          </a:p>
        </p:txBody>
      </p:sp>
    </p:spTree>
    <p:extLst>
      <p:ext uri="{BB962C8B-B14F-4D97-AF65-F5344CB8AC3E}">
        <p14:creationId xmlns:p14="http://schemas.microsoft.com/office/powerpoint/2010/main" val="13811138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325DB3-A7A5-FE55-592E-8D1322E390A7}"/>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220B5EAA-568B-1527-CC17-7A738BAF032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97485FAA-DA04-4A5A-8EB3-F1E6A86C1DC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AAA0561D-646F-7652-2842-39EBD7E682BD}"/>
              </a:ext>
            </a:extLst>
          </p:cNvPr>
          <p:cNvSpPr>
            <a:spLocks noGrp="1"/>
          </p:cNvSpPr>
          <p:nvPr>
            <p:ph type="dt" sz="half" idx="10"/>
          </p:nvPr>
        </p:nvSpPr>
        <p:spPr/>
        <p:txBody>
          <a:bodyPr/>
          <a:lstStyle/>
          <a:p>
            <a:fld id="{9B89C35C-3EE5-A246-A952-3D5E785B1FEE}" type="datetimeFigureOut">
              <a:rPr lang="en-US" smtClean="0"/>
              <a:t>1/28/26</a:t>
            </a:fld>
            <a:endParaRPr lang="en-US"/>
          </a:p>
        </p:txBody>
      </p:sp>
      <p:sp>
        <p:nvSpPr>
          <p:cNvPr id="6" name="Footer Placeholder 5">
            <a:extLst>
              <a:ext uri="{FF2B5EF4-FFF2-40B4-BE49-F238E27FC236}">
                <a16:creationId xmlns:a16="http://schemas.microsoft.com/office/drawing/2014/main" id="{C21BCEC1-2D37-903C-D832-F9503E5D210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6A4C6EC-8D2F-22A5-D553-710E34750441}"/>
              </a:ext>
            </a:extLst>
          </p:cNvPr>
          <p:cNvSpPr>
            <a:spLocks noGrp="1"/>
          </p:cNvSpPr>
          <p:nvPr>
            <p:ph type="sldNum" sz="quarter" idx="12"/>
          </p:nvPr>
        </p:nvSpPr>
        <p:spPr/>
        <p:txBody>
          <a:bodyPr/>
          <a:lstStyle/>
          <a:p>
            <a:fld id="{F5A17286-28A6-D24D-8961-6048BD44EA0B}" type="slidenum">
              <a:rPr lang="en-US" smtClean="0"/>
              <a:t>‹#›</a:t>
            </a:fld>
            <a:endParaRPr lang="en-US"/>
          </a:p>
        </p:txBody>
      </p:sp>
    </p:spTree>
    <p:extLst>
      <p:ext uri="{BB962C8B-B14F-4D97-AF65-F5344CB8AC3E}">
        <p14:creationId xmlns:p14="http://schemas.microsoft.com/office/powerpoint/2010/main" val="18036659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81B3DF-4CE0-AA15-0F36-971EAC3D5C94}"/>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18ED7F49-AFDE-3E28-A471-C3EF219AF45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AE97831-32CD-2C2F-3EBD-340F09B7B6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06E87DC6-F0C6-1718-6B7B-4BCCBBFCF757}"/>
              </a:ext>
            </a:extLst>
          </p:cNvPr>
          <p:cNvSpPr>
            <a:spLocks noGrp="1"/>
          </p:cNvSpPr>
          <p:nvPr>
            <p:ph type="dt" sz="half" idx="10"/>
          </p:nvPr>
        </p:nvSpPr>
        <p:spPr/>
        <p:txBody>
          <a:bodyPr/>
          <a:lstStyle/>
          <a:p>
            <a:fld id="{9B89C35C-3EE5-A246-A952-3D5E785B1FEE}" type="datetimeFigureOut">
              <a:rPr lang="en-US" smtClean="0"/>
              <a:t>1/28/26</a:t>
            </a:fld>
            <a:endParaRPr lang="en-US"/>
          </a:p>
        </p:txBody>
      </p:sp>
      <p:sp>
        <p:nvSpPr>
          <p:cNvPr id="6" name="Footer Placeholder 5">
            <a:extLst>
              <a:ext uri="{FF2B5EF4-FFF2-40B4-BE49-F238E27FC236}">
                <a16:creationId xmlns:a16="http://schemas.microsoft.com/office/drawing/2014/main" id="{3F35C658-CCE0-593A-B740-8291D9DBB25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C226DC0-DB6C-8F05-4580-A8B136B2F128}"/>
              </a:ext>
            </a:extLst>
          </p:cNvPr>
          <p:cNvSpPr>
            <a:spLocks noGrp="1"/>
          </p:cNvSpPr>
          <p:nvPr>
            <p:ph type="sldNum" sz="quarter" idx="12"/>
          </p:nvPr>
        </p:nvSpPr>
        <p:spPr/>
        <p:txBody>
          <a:bodyPr/>
          <a:lstStyle/>
          <a:p>
            <a:fld id="{F5A17286-28A6-D24D-8961-6048BD44EA0B}" type="slidenum">
              <a:rPr lang="en-US" smtClean="0"/>
              <a:t>‹#›</a:t>
            </a:fld>
            <a:endParaRPr lang="en-US"/>
          </a:p>
        </p:txBody>
      </p:sp>
    </p:spTree>
    <p:extLst>
      <p:ext uri="{BB962C8B-B14F-4D97-AF65-F5344CB8AC3E}">
        <p14:creationId xmlns:p14="http://schemas.microsoft.com/office/powerpoint/2010/main" val="39401296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4B1E77-0479-9166-F79B-29449B22813C}"/>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9DB6FEA2-58CB-58B9-C013-4F353BC26CC1}"/>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7043050-DAB9-3FCD-E3DF-9A1F1965D21A}"/>
              </a:ext>
            </a:extLst>
          </p:cNvPr>
          <p:cNvSpPr>
            <a:spLocks noGrp="1"/>
          </p:cNvSpPr>
          <p:nvPr>
            <p:ph type="dt" sz="half" idx="10"/>
          </p:nvPr>
        </p:nvSpPr>
        <p:spPr/>
        <p:txBody>
          <a:bodyPr/>
          <a:lstStyle/>
          <a:p>
            <a:fld id="{9B89C35C-3EE5-A246-A952-3D5E785B1FEE}" type="datetimeFigureOut">
              <a:rPr lang="en-US" smtClean="0"/>
              <a:t>1/28/26</a:t>
            </a:fld>
            <a:endParaRPr lang="en-US"/>
          </a:p>
        </p:txBody>
      </p:sp>
      <p:sp>
        <p:nvSpPr>
          <p:cNvPr id="5" name="Footer Placeholder 4">
            <a:extLst>
              <a:ext uri="{FF2B5EF4-FFF2-40B4-BE49-F238E27FC236}">
                <a16:creationId xmlns:a16="http://schemas.microsoft.com/office/drawing/2014/main" id="{172790A2-7112-FB3F-1FF7-E7BA9FF9F22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B3C7F12-590B-BC76-8C66-C620394E1482}"/>
              </a:ext>
            </a:extLst>
          </p:cNvPr>
          <p:cNvSpPr>
            <a:spLocks noGrp="1"/>
          </p:cNvSpPr>
          <p:nvPr>
            <p:ph type="sldNum" sz="quarter" idx="12"/>
          </p:nvPr>
        </p:nvSpPr>
        <p:spPr/>
        <p:txBody>
          <a:bodyPr/>
          <a:lstStyle/>
          <a:p>
            <a:fld id="{F5A17286-28A6-D24D-8961-6048BD44EA0B}" type="slidenum">
              <a:rPr lang="en-US" smtClean="0"/>
              <a:t>‹#›</a:t>
            </a:fld>
            <a:endParaRPr lang="en-US"/>
          </a:p>
        </p:txBody>
      </p:sp>
    </p:spTree>
    <p:extLst>
      <p:ext uri="{BB962C8B-B14F-4D97-AF65-F5344CB8AC3E}">
        <p14:creationId xmlns:p14="http://schemas.microsoft.com/office/powerpoint/2010/main" val="41520289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B60BA94-3200-966F-A162-4B6FAE45EC4B}"/>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35F4950-D4B4-A70D-436F-71D3571836C6}"/>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C769A051-57F7-D3FA-6DE6-BAA94771C40F}"/>
              </a:ext>
            </a:extLst>
          </p:cNvPr>
          <p:cNvSpPr>
            <a:spLocks noGrp="1"/>
          </p:cNvSpPr>
          <p:nvPr>
            <p:ph type="dt" sz="half" idx="10"/>
          </p:nvPr>
        </p:nvSpPr>
        <p:spPr/>
        <p:txBody>
          <a:bodyPr/>
          <a:lstStyle/>
          <a:p>
            <a:fld id="{9B89C35C-3EE5-A246-A952-3D5E785B1FEE}" type="datetimeFigureOut">
              <a:rPr lang="en-US" smtClean="0"/>
              <a:t>1/28/26</a:t>
            </a:fld>
            <a:endParaRPr lang="en-US"/>
          </a:p>
        </p:txBody>
      </p:sp>
      <p:sp>
        <p:nvSpPr>
          <p:cNvPr id="5" name="Footer Placeholder 4">
            <a:extLst>
              <a:ext uri="{FF2B5EF4-FFF2-40B4-BE49-F238E27FC236}">
                <a16:creationId xmlns:a16="http://schemas.microsoft.com/office/drawing/2014/main" id="{64472D7D-B0DE-6A71-F1C0-387D2FFE12F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C2868FE-9C8A-D4B6-DA59-F24C72C8463D}"/>
              </a:ext>
            </a:extLst>
          </p:cNvPr>
          <p:cNvSpPr>
            <a:spLocks noGrp="1"/>
          </p:cNvSpPr>
          <p:nvPr>
            <p:ph type="sldNum" sz="quarter" idx="12"/>
          </p:nvPr>
        </p:nvSpPr>
        <p:spPr/>
        <p:txBody>
          <a:bodyPr/>
          <a:lstStyle/>
          <a:p>
            <a:fld id="{F5A17286-28A6-D24D-8961-6048BD44EA0B}" type="slidenum">
              <a:rPr lang="en-US" smtClean="0"/>
              <a:t>‹#›</a:t>
            </a:fld>
            <a:endParaRPr lang="en-US"/>
          </a:p>
        </p:txBody>
      </p:sp>
    </p:spTree>
    <p:extLst>
      <p:ext uri="{BB962C8B-B14F-4D97-AF65-F5344CB8AC3E}">
        <p14:creationId xmlns:p14="http://schemas.microsoft.com/office/powerpoint/2010/main" val="3669413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6B0019C-B558-4754-59FF-E4CE3D28AF6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5B531776-A345-887D-B134-F71A3C4F31A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E1EC6515-60E5-6C23-7C45-FBE5FB6847A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B89C35C-3EE5-A246-A952-3D5E785B1FEE}" type="datetimeFigureOut">
              <a:rPr lang="en-US" smtClean="0"/>
              <a:t>1/28/26</a:t>
            </a:fld>
            <a:endParaRPr lang="en-US"/>
          </a:p>
        </p:txBody>
      </p:sp>
      <p:sp>
        <p:nvSpPr>
          <p:cNvPr id="5" name="Footer Placeholder 4">
            <a:extLst>
              <a:ext uri="{FF2B5EF4-FFF2-40B4-BE49-F238E27FC236}">
                <a16:creationId xmlns:a16="http://schemas.microsoft.com/office/drawing/2014/main" id="{3BC5AF0E-F7AC-7109-C59C-9F60163279F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C0D00E0-0526-D731-E1C2-4C51E4216BB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5A17286-28A6-D24D-8961-6048BD44EA0B}" type="slidenum">
              <a:rPr lang="en-US" smtClean="0"/>
              <a:t>‹#›</a:t>
            </a:fld>
            <a:endParaRPr lang="en-US"/>
          </a:p>
        </p:txBody>
      </p:sp>
    </p:spTree>
    <p:extLst>
      <p:ext uri="{BB962C8B-B14F-4D97-AF65-F5344CB8AC3E}">
        <p14:creationId xmlns:p14="http://schemas.microsoft.com/office/powerpoint/2010/main" val="31433858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18" descr="A logo for a hospital&#10;&#10;AI-generated content may be incorrect.">
            <a:extLst>
              <a:ext uri="{FF2B5EF4-FFF2-40B4-BE49-F238E27FC236}">
                <a16:creationId xmlns:a16="http://schemas.microsoft.com/office/drawing/2014/main" id="{19021451-D444-7194-ABB5-FB99395527E8}"/>
              </a:ext>
            </a:extLst>
          </p:cNvPr>
          <p:cNvPicPr>
            <a:picLocks noChangeAspect="1"/>
          </p:cNvPicPr>
          <p:nvPr/>
        </p:nvPicPr>
        <p:blipFill>
          <a:blip r:embed="rId2"/>
          <a:stretch>
            <a:fillRect/>
          </a:stretch>
        </p:blipFill>
        <p:spPr>
          <a:xfrm>
            <a:off x="1494503" y="1103438"/>
            <a:ext cx="9202994" cy="4401432"/>
          </a:xfrm>
          <a:prstGeom prst="rect">
            <a:avLst/>
          </a:prstGeom>
        </p:spPr>
      </p:pic>
      <p:sp>
        <p:nvSpPr>
          <p:cNvPr id="20" name="TextBox 19">
            <a:extLst>
              <a:ext uri="{FF2B5EF4-FFF2-40B4-BE49-F238E27FC236}">
                <a16:creationId xmlns:a16="http://schemas.microsoft.com/office/drawing/2014/main" id="{FA952C36-6852-8E1A-AFC2-A4F65EBC5344}"/>
              </a:ext>
            </a:extLst>
          </p:cNvPr>
          <p:cNvSpPr txBox="1"/>
          <p:nvPr/>
        </p:nvSpPr>
        <p:spPr>
          <a:xfrm>
            <a:off x="6375018" y="4796984"/>
            <a:ext cx="3639138" cy="707886"/>
          </a:xfrm>
          <a:prstGeom prst="rect">
            <a:avLst/>
          </a:prstGeom>
          <a:noFill/>
        </p:spPr>
        <p:txBody>
          <a:bodyPr wrap="none" rtlCol="0">
            <a:spAutoFit/>
          </a:bodyPr>
          <a:lstStyle/>
          <a:p>
            <a:r>
              <a:rPr lang="en-US" sz="4000" dirty="0">
                <a:solidFill>
                  <a:srgbClr val="0E4380"/>
                </a:solidFill>
                <a:latin typeface="Calibri" panose="020F0502020204030204" pitchFamily="34" charset="0"/>
                <a:cs typeface="Calibri" panose="020F0502020204030204" pitchFamily="34" charset="0"/>
              </a:rPr>
              <a:t>By Febin George</a:t>
            </a:r>
          </a:p>
        </p:txBody>
      </p:sp>
    </p:spTree>
    <p:extLst>
      <p:ext uri="{BB962C8B-B14F-4D97-AF65-F5344CB8AC3E}">
        <p14:creationId xmlns:p14="http://schemas.microsoft.com/office/powerpoint/2010/main" val="42171331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E59DB1-496F-F3B2-132D-83D4C40D4702}"/>
            </a:ext>
          </a:extLst>
        </p:cNvPr>
        <p:cNvGrpSpPr/>
        <p:nvPr/>
      </p:nvGrpSpPr>
      <p:grpSpPr>
        <a:xfrm>
          <a:off x="0" y="0"/>
          <a:ext cx="0" cy="0"/>
          <a:chOff x="0" y="0"/>
          <a:chExt cx="0" cy="0"/>
        </a:xfrm>
      </p:grpSpPr>
      <p:sp>
        <p:nvSpPr>
          <p:cNvPr id="2" name="TextBox 3">
            <a:extLst>
              <a:ext uri="{FF2B5EF4-FFF2-40B4-BE49-F238E27FC236}">
                <a16:creationId xmlns:a16="http://schemas.microsoft.com/office/drawing/2014/main" id="{2E9179E7-14EB-3C57-D24A-1BCEF39971E1}"/>
              </a:ext>
            </a:extLst>
          </p:cNvPr>
          <p:cNvSpPr txBox="1"/>
          <p:nvPr/>
        </p:nvSpPr>
        <p:spPr>
          <a:xfrm>
            <a:off x="983004" y="2373346"/>
            <a:ext cx="10515144" cy="2503634"/>
          </a:xfrm>
          <a:prstGeom prst="rect">
            <a:avLst/>
          </a:prstGeom>
        </p:spPr>
        <p:txBody>
          <a:bodyPr lIns="0" tIns="0" rIns="0" bIns="0" rtlCol="0" anchor="t">
            <a:spAutoFit/>
          </a:bodyPr>
          <a:lstStyle/>
          <a:p>
            <a:pPr>
              <a:lnSpc>
                <a:spcPts val="3266"/>
              </a:lnSpc>
            </a:pPr>
            <a:r>
              <a:rPr lang="en-US" sz="2000" dirty="0"/>
              <a:t>Columbia Asia Hospital is a well-known healthcare facility recognized for patient-centered care and medical expertise. With a global presence in several nations, the hospital is known for offering top-notch medical care supported by modern infrastructure and state-of-the-art medical technology. Its team of highly qualified and caring healthcare professionals focuses on providing complete and individualized healthcare solutions to meet the diverse needs of the communities it serves, while staying committed to excellent medical care and a healthy society.</a:t>
            </a:r>
            <a:endParaRPr lang="en-US" sz="2000" dirty="0">
              <a:solidFill>
                <a:srgbClr val="273348"/>
              </a:solidFill>
              <a:latin typeface="Canva Sans"/>
              <a:ea typeface="Canva Sans"/>
              <a:cs typeface="Canva Sans"/>
              <a:sym typeface="Canva Sans"/>
            </a:endParaRPr>
          </a:p>
        </p:txBody>
      </p:sp>
      <p:sp>
        <p:nvSpPr>
          <p:cNvPr id="3" name="TextBox 2">
            <a:extLst>
              <a:ext uri="{FF2B5EF4-FFF2-40B4-BE49-F238E27FC236}">
                <a16:creationId xmlns:a16="http://schemas.microsoft.com/office/drawing/2014/main" id="{29AB5A37-7381-E3F9-BA2A-8FF17FC7CD16}"/>
              </a:ext>
            </a:extLst>
          </p:cNvPr>
          <p:cNvSpPr txBox="1"/>
          <p:nvPr/>
        </p:nvSpPr>
        <p:spPr>
          <a:xfrm>
            <a:off x="24811" y="269157"/>
            <a:ext cx="12142377" cy="885627"/>
          </a:xfrm>
          <a:prstGeom prst="rect">
            <a:avLst/>
          </a:prstGeom>
        </p:spPr>
        <p:txBody>
          <a:bodyPr wrap="square" lIns="0" tIns="0" rIns="0" bIns="0" rtlCol="0" anchor="t">
            <a:spAutoFit/>
          </a:bodyPr>
          <a:lstStyle/>
          <a:p>
            <a:pPr algn="ctr">
              <a:lnSpc>
                <a:spcPts val="7837"/>
              </a:lnSpc>
            </a:pPr>
            <a:r>
              <a:rPr lang="en-US" sz="4000" b="1" dirty="0">
                <a:solidFill>
                  <a:srgbClr val="273348"/>
                </a:solidFill>
                <a:latin typeface="Cy Grotesk Key Bold"/>
                <a:ea typeface="Cy Grotesk Key Bold"/>
                <a:cs typeface="Cy Grotesk Key Bold"/>
                <a:sym typeface="Cy Grotesk Key Bold"/>
              </a:rPr>
              <a:t>About Columbia Asia Hospital</a:t>
            </a:r>
          </a:p>
        </p:txBody>
      </p:sp>
    </p:spTree>
    <p:extLst>
      <p:ext uri="{BB962C8B-B14F-4D97-AF65-F5344CB8AC3E}">
        <p14:creationId xmlns:p14="http://schemas.microsoft.com/office/powerpoint/2010/main" val="35443455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988795-30A6-3429-D87A-3024EE21417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BB6585B-BB03-AE6C-C6A1-F398FD362991}"/>
              </a:ext>
            </a:extLst>
          </p:cNvPr>
          <p:cNvSpPr txBox="1"/>
          <p:nvPr/>
        </p:nvSpPr>
        <p:spPr>
          <a:xfrm>
            <a:off x="1236407" y="1817638"/>
            <a:ext cx="9719186" cy="2862322"/>
          </a:xfrm>
          <a:prstGeom prst="rect">
            <a:avLst/>
          </a:prstGeom>
          <a:noFill/>
        </p:spPr>
        <p:txBody>
          <a:bodyPr wrap="square">
            <a:spAutoFit/>
          </a:bodyPr>
          <a:lstStyle/>
          <a:p>
            <a:r>
              <a:rPr lang="en-US" sz="2000" dirty="0">
                <a:solidFill>
                  <a:srgbClr val="273348"/>
                </a:solidFill>
                <a:ea typeface="Canva Sans"/>
                <a:cs typeface="Canva Sans"/>
                <a:sym typeface="Canva Sans"/>
              </a:rPr>
              <a:t>You have been hired as a consultant data analyst by Columbia Asia Hospital. The Hospital is looking for key insights for the following objectives:</a:t>
            </a:r>
          </a:p>
          <a:p>
            <a:endParaRPr lang="en-US" sz="2000" dirty="0">
              <a:solidFill>
                <a:srgbClr val="273348"/>
              </a:solidFill>
              <a:ea typeface="Canva Sans"/>
              <a:cs typeface="Canva Sans"/>
              <a:sym typeface="Canva Sans"/>
            </a:endParaRPr>
          </a:p>
          <a:p>
            <a:pPr marL="457200" indent="-457200">
              <a:buFont typeface="Arial" panose="020B0604020202020204" pitchFamily="34" charset="0"/>
              <a:buChar char="•"/>
            </a:pPr>
            <a:r>
              <a:rPr lang="en-US" sz="2000" dirty="0">
                <a:solidFill>
                  <a:srgbClr val="273348"/>
                </a:solidFill>
                <a:ea typeface="Canva Sans"/>
                <a:cs typeface="Canva Sans"/>
                <a:sym typeface="Canva Sans"/>
              </a:rPr>
              <a:t>Assess the hospital's revenue generation</a:t>
            </a:r>
          </a:p>
          <a:p>
            <a:pPr marL="457200" indent="-457200">
              <a:buFont typeface="Arial" panose="020B0604020202020204" pitchFamily="34" charset="0"/>
              <a:buChar char="•"/>
            </a:pPr>
            <a:r>
              <a:rPr lang="en-US" sz="2000" dirty="0">
                <a:solidFill>
                  <a:srgbClr val="273348"/>
                </a:solidFill>
                <a:ea typeface="Canva Sans"/>
                <a:cs typeface="Canva Sans"/>
                <a:sym typeface="Canva Sans"/>
              </a:rPr>
              <a:t>Insights about suitable departments for new hires</a:t>
            </a:r>
          </a:p>
          <a:p>
            <a:pPr marL="457200" indent="-457200">
              <a:buFont typeface="Arial" panose="020B0604020202020204" pitchFamily="34" charset="0"/>
              <a:buChar char="•"/>
            </a:pPr>
            <a:r>
              <a:rPr lang="en-US" sz="2000" dirty="0">
                <a:solidFill>
                  <a:srgbClr val="273348"/>
                </a:solidFill>
                <a:ea typeface="Canva Sans"/>
                <a:cs typeface="Canva Sans"/>
                <a:sym typeface="Canva Sans"/>
              </a:rPr>
              <a:t>Strategies suggestions for patient discounts</a:t>
            </a:r>
          </a:p>
          <a:p>
            <a:pPr marL="457200" indent="-457200">
              <a:buFont typeface="Arial" panose="020B0604020202020204" pitchFamily="34" charset="0"/>
              <a:buChar char="•"/>
            </a:pPr>
            <a:endParaRPr lang="en-US" sz="2000" dirty="0">
              <a:solidFill>
                <a:srgbClr val="273348"/>
              </a:solidFill>
              <a:ea typeface="Canva Sans"/>
              <a:cs typeface="Canva Sans"/>
              <a:sym typeface="Canva Sans"/>
            </a:endParaRPr>
          </a:p>
          <a:p>
            <a:r>
              <a:rPr lang="en-US" sz="2000" dirty="0">
                <a:solidFill>
                  <a:srgbClr val="273348"/>
                </a:solidFill>
                <a:ea typeface="Canva Sans"/>
                <a:cs typeface="Canva Sans"/>
                <a:sym typeface="Canva Sans"/>
              </a:rPr>
              <a:t>Your task is to perform data analysis and come up with a report in order to help the </a:t>
            </a:r>
            <a:r>
              <a:rPr lang="en-US" sz="2000" dirty="0" err="1">
                <a:solidFill>
                  <a:srgbClr val="273348"/>
                </a:solidFill>
                <a:ea typeface="Canva Sans"/>
                <a:cs typeface="Canva Sans"/>
                <a:sym typeface="Canva Sans"/>
              </a:rPr>
              <a:t>organisation</a:t>
            </a:r>
            <a:r>
              <a:rPr lang="en-US" sz="2000" dirty="0">
                <a:solidFill>
                  <a:srgbClr val="273348"/>
                </a:solidFill>
                <a:ea typeface="Canva Sans"/>
                <a:cs typeface="Canva Sans"/>
                <a:sym typeface="Canva Sans"/>
              </a:rPr>
              <a:t> with the mentioned objectives.</a:t>
            </a:r>
          </a:p>
        </p:txBody>
      </p:sp>
      <p:sp>
        <p:nvSpPr>
          <p:cNvPr id="4" name="TextBox 2">
            <a:extLst>
              <a:ext uri="{FF2B5EF4-FFF2-40B4-BE49-F238E27FC236}">
                <a16:creationId xmlns:a16="http://schemas.microsoft.com/office/drawing/2014/main" id="{50C1D265-EE7E-0734-71BD-0604B6F1E68E}"/>
              </a:ext>
            </a:extLst>
          </p:cNvPr>
          <p:cNvSpPr txBox="1"/>
          <p:nvPr/>
        </p:nvSpPr>
        <p:spPr>
          <a:xfrm>
            <a:off x="24811" y="164053"/>
            <a:ext cx="12142377" cy="885627"/>
          </a:xfrm>
          <a:prstGeom prst="rect">
            <a:avLst/>
          </a:prstGeom>
        </p:spPr>
        <p:txBody>
          <a:bodyPr wrap="square" lIns="0" tIns="0" rIns="0" bIns="0" rtlCol="0" anchor="t">
            <a:spAutoFit/>
          </a:bodyPr>
          <a:lstStyle/>
          <a:p>
            <a:pPr algn="ctr">
              <a:lnSpc>
                <a:spcPts val="7837"/>
              </a:lnSpc>
            </a:pPr>
            <a:r>
              <a:rPr lang="en-US" sz="4000" b="1" dirty="0">
                <a:solidFill>
                  <a:srgbClr val="273348"/>
                </a:solidFill>
                <a:latin typeface="Cy Grotesk Key Bold"/>
                <a:ea typeface="Cy Grotesk Key Bold"/>
                <a:cs typeface="Cy Grotesk Key Bold"/>
                <a:sym typeface="Cy Grotesk Key Bold"/>
              </a:rPr>
              <a:t>Problem Statement</a:t>
            </a:r>
          </a:p>
        </p:txBody>
      </p:sp>
      <p:pic>
        <p:nvPicPr>
          <p:cNvPr id="6" name="Picture 5">
            <a:extLst>
              <a:ext uri="{FF2B5EF4-FFF2-40B4-BE49-F238E27FC236}">
                <a16:creationId xmlns:a16="http://schemas.microsoft.com/office/drawing/2014/main" id="{6B5E2E18-BBA9-F7F8-AC3D-BB40D7D1CF51}"/>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6250" b="92250" l="10000" r="90000">
                        <a14:foregroundMark x1="39400" y1="16550" x2="55950" y2="17400"/>
                        <a14:foregroundMark x1="49700" y1="8800" x2="50150" y2="6250"/>
                        <a14:foregroundMark x1="46250" y1="92250" x2="46250" y2="92250"/>
                        <a14:foregroundMark x1="46250" y1="91600" x2="49500" y2="91200"/>
                      </a14:backgroundRemoval>
                    </a14:imgEffect>
                  </a14:imgLayer>
                </a14:imgProps>
              </a:ext>
            </a:extLst>
          </a:blip>
          <a:stretch>
            <a:fillRect/>
          </a:stretch>
        </p:blipFill>
        <p:spPr>
          <a:xfrm flipH="1">
            <a:off x="9011264" y="2896064"/>
            <a:ext cx="4190768" cy="4190768"/>
          </a:xfrm>
          <a:prstGeom prst="rect">
            <a:avLst/>
          </a:prstGeom>
        </p:spPr>
      </p:pic>
    </p:spTree>
    <p:extLst>
      <p:ext uri="{BB962C8B-B14F-4D97-AF65-F5344CB8AC3E}">
        <p14:creationId xmlns:p14="http://schemas.microsoft.com/office/powerpoint/2010/main" val="17904955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272077-AF43-0CB3-1B09-9CC84723EAD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6F84442-0D61-E403-2BEA-83004F6B3CC7}"/>
              </a:ext>
            </a:extLst>
          </p:cNvPr>
          <p:cNvSpPr txBox="1"/>
          <p:nvPr/>
        </p:nvSpPr>
        <p:spPr>
          <a:xfrm>
            <a:off x="217654" y="1343976"/>
            <a:ext cx="11756691" cy="1631216"/>
          </a:xfrm>
          <a:prstGeom prst="rect">
            <a:avLst/>
          </a:prstGeom>
          <a:noFill/>
        </p:spPr>
        <p:txBody>
          <a:bodyPr wrap="square">
            <a:spAutoFit/>
          </a:bodyPr>
          <a:lstStyle/>
          <a:p>
            <a:r>
              <a:rPr lang="en-GB" sz="2000" dirty="0">
                <a:latin typeface="Aptos" panose="020B0004020202020204" pitchFamily="34" charset="0"/>
                <a:cs typeface="Arial" panose="020B0604020202020204" pitchFamily="34" charset="0"/>
              </a:rPr>
              <a:t>The data includes two tables:</a:t>
            </a:r>
          </a:p>
          <a:p>
            <a:endParaRPr lang="en-GB" sz="2000" dirty="0">
              <a:latin typeface="Aptos" panose="020B0004020202020204" pitchFamily="34" charset="0"/>
              <a:cs typeface="Arial" panose="020B0604020202020204" pitchFamily="34" charset="0"/>
            </a:endParaRPr>
          </a:p>
          <a:p>
            <a:pPr marL="285750" indent="-285750">
              <a:buFont typeface="Arial" panose="020B0604020202020204" pitchFamily="34" charset="0"/>
              <a:buChar char="•"/>
            </a:pPr>
            <a:r>
              <a:rPr lang="en-GB" sz="2000" dirty="0" err="1">
                <a:latin typeface="Aptos" panose="020B0004020202020204" pitchFamily="34" charset="0"/>
                <a:cs typeface="Arial" panose="020B0604020202020204" pitchFamily="34" charset="0"/>
              </a:rPr>
              <a:t>doctor_patients_data</a:t>
            </a:r>
            <a:r>
              <a:rPr lang="en-GB" sz="2000" dirty="0">
                <a:latin typeface="Aptos" panose="020B0004020202020204" pitchFamily="34" charset="0"/>
                <a:cs typeface="Arial" panose="020B0604020202020204" pitchFamily="34" charset="0"/>
              </a:rPr>
              <a:t>: Details on doctors, patient visits, fees, and satisfaction scores.</a:t>
            </a:r>
          </a:p>
          <a:p>
            <a:pPr marL="285750" indent="-285750">
              <a:buFont typeface="Arial" panose="020B0604020202020204" pitchFamily="34" charset="0"/>
              <a:buChar char="•"/>
            </a:pPr>
            <a:endParaRPr lang="en-GB" sz="2000" dirty="0">
              <a:latin typeface="Aptos" panose="020B0004020202020204" pitchFamily="34" charset="0"/>
              <a:cs typeface="Arial" panose="020B0604020202020204" pitchFamily="34" charset="0"/>
            </a:endParaRPr>
          </a:p>
          <a:p>
            <a:pPr marL="285750" indent="-285750">
              <a:buFont typeface="Arial" panose="020B0604020202020204" pitchFamily="34" charset="0"/>
              <a:buChar char="•"/>
            </a:pPr>
            <a:r>
              <a:rPr lang="en-GB" sz="2000" dirty="0" err="1">
                <a:latin typeface="Aptos" panose="020B0004020202020204" pitchFamily="34" charset="0"/>
                <a:cs typeface="Arial" panose="020B0604020202020204" pitchFamily="34" charset="0"/>
              </a:rPr>
              <a:t>hospital_er</a:t>
            </a:r>
            <a:r>
              <a:rPr lang="en-GB" sz="2000" dirty="0">
                <a:latin typeface="Aptos" panose="020B0004020202020204" pitchFamily="34" charset="0"/>
                <a:cs typeface="Arial" panose="020B0604020202020204" pitchFamily="34" charset="0"/>
              </a:rPr>
              <a:t>: Information on patient demographics, wait times, and referrals.</a:t>
            </a:r>
          </a:p>
        </p:txBody>
      </p:sp>
      <p:sp>
        <p:nvSpPr>
          <p:cNvPr id="4" name="TextBox 2">
            <a:extLst>
              <a:ext uri="{FF2B5EF4-FFF2-40B4-BE49-F238E27FC236}">
                <a16:creationId xmlns:a16="http://schemas.microsoft.com/office/drawing/2014/main" id="{9A2BC2D4-E14D-6734-5B07-A51C027A9CA0}"/>
              </a:ext>
            </a:extLst>
          </p:cNvPr>
          <p:cNvSpPr txBox="1"/>
          <p:nvPr/>
        </p:nvSpPr>
        <p:spPr>
          <a:xfrm>
            <a:off x="0" y="165918"/>
            <a:ext cx="12142377" cy="885627"/>
          </a:xfrm>
          <a:prstGeom prst="rect">
            <a:avLst/>
          </a:prstGeom>
        </p:spPr>
        <p:txBody>
          <a:bodyPr wrap="square" lIns="0" tIns="0" rIns="0" bIns="0" rtlCol="0" anchor="t">
            <a:spAutoFit/>
          </a:bodyPr>
          <a:lstStyle/>
          <a:p>
            <a:pPr algn="ctr">
              <a:lnSpc>
                <a:spcPts val="7837"/>
              </a:lnSpc>
            </a:pPr>
            <a:r>
              <a:rPr lang="en-US" sz="4000" b="1" dirty="0">
                <a:solidFill>
                  <a:srgbClr val="273348"/>
                </a:solidFill>
                <a:latin typeface="Cy Grotesk Key Bold"/>
                <a:ea typeface="Cy Grotesk Key Bold"/>
                <a:cs typeface="Cy Grotesk Key Bold"/>
                <a:sym typeface="Cy Grotesk Key Bold"/>
              </a:rPr>
              <a:t>Data Overview</a:t>
            </a:r>
          </a:p>
        </p:txBody>
      </p:sp>
      <p:pic>
        <p:nvPicPr>
          <p:cNvPr id="5" name="Picture 4">
            <a:extLst>
              <a:ext uri="{FF2B5EF4-FFF2-40B4-BE49-F238E27FC236}">
                <a16:creationId xmlns:a16="http://schemas.microsoft.com/office/drawing/2014/main" id="{91691E8C-8755-2847-F810-AE964EAFFEFB}"/>
              </a:ext>
            </a:extLst>
          </p:cNvPr>
          <p:cNvPicPr>
            <a:picLocks noChangeAspect="1"/>
          </p:cNvPicPr>
          <p:nvPr/>
        </p:nvPicPr>
        <p:blipFill>
          <a:blip r:embed="rId2"/>
          <a:stretch>
            <a:fillRect/>
          </a:stretch>
        </p:blipFill>
        <p:spPr>
          <a:xfrm>
            <a:off x="668501" y="3562367"/>
            <a:ext cx="3962582" cy="2486976"/>
          </a:xfrm>
          <a:prstGeom prst="rect">
            <a:avLst/>
          </a:prstGeom>
        </p:spPr>
      </p:pic>
      <p:pic>
        <p:nvPicPr>
          <p:cNvPr id="6" name="Picture 5">
            <a:extLst>
              <a:ext uri="{FF2B5EF4-FFF2-40B4-BE49-F238E27FC236}">
                <a16:creationId xmlns:a16="http://schemas.microsoft.com/office/drawing/2014/main" id="{B7E571B0-DBF0-E7E5-559C-E058A531A70B}"/>
              </a:ext>
            </a:extLst>
          </p:cNvPr>
          <p:cNvPicPr>
            <a:picLocks noChangeAspect="1"/>
          </p:cNvPicPr>
          <p:nvPr/>
        </p:nvPicPr>
        <p:blipFill>
          <a:blip r:embed="rId3"/>
          <a:stretch>
            <a:fillRect/>
          </a:stretch>
        </p:blipFill>
        <p:spPr>
          <a:xfrm>
            <a:off x="7186009" y="3180255"/>
            <a:ext cx="3327400" cy="3251200"/>
          </a:xfrm>
          <a:prstGeom prst="rect">
            <a:avLst/>
          </a:prstGeom>
        </p:spPr>
      </p:pic>
    </p:spTree>
    <p:extLst>
      <p:ext uri="{BB962C8B-B14F-4D97-AF65-F5344CB8AC3E}">
        <p14:creationId xmlns:p14="http://schemas.microsoft.com/office/powerpoint/2010/main" val="35806216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6E7832-DBFE-1FAD-12C2-4B5B95FCBAA5}"/>
            </a:ext>
          </a:extLst>
        </p:cNvPr>
        <p:cNvGrpSpPr/>
        <p:nvPr/>
      </p:nvGrpSpPr>
      <p:grpSpPr>
        <a:xfrm>
          <a:off x="0" y="0"/>
          <a:ext cx="0" cy="0"/>
          <a:chOff x="0" y="0"/>
          <a:chExt cx="0" cy="0"/>
        </a:xfrm>
      </p:grpSpPr>
      <p:sp>
        <p:nvSpPr>
          <p:cNvPr id="8" name="Freeform 8">
            <a:extLst>
              <a:ext uri="{FF2B5EF4-FFF2-40B4-BE49-F238E27FC236}">
                <a16:creationId xmlns:a16="http://schemas.microsoft.com/office/drawing/2014/main" id="{C33B820B-CDBA-2BDC-DAB1-1B181AB75127}"/>
              </a:ext>
            </a:extLst>
          </p:cNvPr>
          <p:cNvSpPr/>
          <p:nvPr/>
        </p:nvSpPr>
        <p:spPr>
          <a:xfrm flipH="1">
            <a:off x="9748683" y="4291781"/>
            <a:ext cx="2443316" cy="2566219"/>
          </a:xfrm>
          <a:custGeom>
            <a:avLst/>
            <a:gdLst/>
            <a:ahLst/>
            <a:cxnLst/>
            <a:rect l="l" t="t" r="r" b="b"/>
            <a:pathLst>
              <a:path w="4122377" h="4437001">
                <a:moveTo>
                  <a:pt x="0" y="0"/>
                </a:moveTo>
                <a:lnTo>
                  <a:pt x="4122377" y="0"/>
                </a:lnTo>
                <a:lnTo>
                  <a:pt x="4122377" y="4437001"/>
                </a:lnTo>
                <a:lnTo>
                  <a:pt x="0" y="443700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TextBox 2">
            <a:extLst>
              <a:ext uri="{FF2B5EF4-FFF2-40B4-BE49-F238E27FC236}">
                <a16:creationId xmlns:a16="http://schemas.microsoft.com/office/drawing/2014/main" id="{CCE0A2F4-B07A-9AE7-49F3-1FC9717CB365}"/>
              </a:ext>
            </a:extLst>
          </p:cNvPr>
          <p:cNvSpPr txBox="1"/>
          <p:nvPr/>
        </p:nvSpPr>
        <p:spPr>
          <a:xfrm>
            <a:off x="0" y="68051"/>
            <a:ext cx="12142377" cy="885627"/>
          </a:xfrm>
          <a:prstGeom prst="rect">
            <a:avLst/>
          </a:prstGeom>
        </p:spPr>
        <p:txBody>
          <a:bodyPr wrap="square" lIns="0" tIns="0" rIns="0" bIns="0" rtlCol="0" anchor="t">
            <a:spAutoFit/>
          </a:bodyPr>
          <a:lstStyle/>
          <a:p>
            <a:pPr algn="ctr">
              <a:lnSpc>
                <a:spcPts val="7837"/>
              </a:lnSpc>
            </a:pPr>
            <a:r>
              <a:rPr lang="en-US" sz="4000" b="1" dirty="0">
                <a:solidFill>
                  <a:srgbClr val="273348"/>
                </a:solidFill>
                <a:latin typeface="Cy Grotesk Key Bold"/>
                <a:ea typeface="Cy Grotesk Key Bold"/>
                <a:cs typeface="Cy Grotesk Key Bold"/>
                <a:sym typeface="Cy Grotesk Key Bold"/>
              </a:rPr>
              <a:t>Methodology</a:t>
            </a:r>
          </a:p>
        </p:txBody>
      </p:sp>
      <p:sp>
        <p:nvSpPr>
          <p:cNvPr id="6" name="Rectangle 2">
            <a:extLst>
              <a:ext uri="{FF2B5EF4-FFF2-40B4-BE49-F238E27FC236}">
                <a16:creationId xmlns:a16="http://schemas.microsoft.com/office/drawing/2014/main" id="{F9A6156A-7F48-F670-5C09-6C31CF459434}"/>
              </a:ext>
            </a:extLst>
          </p:cNvPr>
          <p:cNvSpPr>
            <a:spLocks noChangeArrowheads="1"/>
          </p:cNvSpPr>
          <p:nvPr/>
        </p:nvSpPr>
        <p:spPr bwMode="auto">
          <a:xfrm>
            <a:off x="813386" y="1856172"/>
            <a:ext cx="10515603"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lvl="0" indent="-342900" eaLnBrk="0" fontAlgn="base" hangingPunct="0">
              <a:spcBef>
                <a:spcPct val="0"/>
              </a:spcBef>
              <a:spcAft>
                <a:spcPct val="0"/>
              </a:spcAft>
              <a:buFont typeface="Arial" panose="020B0604020202020204" pitchFamily="34" charset="0"/>
              <a:buChar char="•"/>
            </a:pPr>
            <a:r>
              <a:rPr lang="en-US" altLang="en-US" sz="2000" b="1" dirty="0">
                <a:latin typeface="Aptos" panose="020B0004020202020204" pitchFamily="34" charset="0"/>
              </a:rPr>
              <a:t>Data Transformation &amp; Integrity</a:t>
            </a:r>
            <a:r>
              <a:rPr lang="en-US" altLang="en-US" sz="2000" dirty="0">
                <a:latin typeface="Aptos" panose="020B0004020202020204" pitchFamily="34" charset="0"/>
              </a:rPr>
              <a:t>: Leveraged Power Query Editor in Power BI to perform complex data cleaning and shaping including sorting, filtering, and merging while resolving inconsistencies and missing values to maintain high data integrity. </a:t>
            </a:r>
          </a:p>
          <a:p>
            <a:pPr marL="342900" lvl="0" indent="-342900" eaLnBrk="0" fontAlgn="base" hangingPunct="0">
              <a:spcBef>
                <a:spcPct val="0"/>
              </a:spcBef>
              <a:spcAft>
                <a:spcPct val="0"/>
              </a:spcAft>
              <a:buFont typeface="Arial" panose="020B0604020202020204" pitchFamily="34" charset="0"/>
              <a:buChar char="•"/>
            </a:pPr>
            <a:endParaRPr lang="en-US" altLang="en-US" sz="2000" dirty="0">
              <a:latin typeface="Aptos" panose="020B0004020202020204" pitchFamily="34" charset="0"/>
            </a:endParaRPr>
          </a:p>
          <a:p>
            <a:pPr marL="342900" lvl="0" indent="-342900" eaLnBrk="0" fontAlgn="base" hangingPunct="0">
              <a:spcBef>
                <a:spcPct val="0"/>
              </a:spcBef>
              <a:spcAft>
                <a:spcPct val="0"/>
              </a:spcAft>
              <a:buFont typeface="Arial" panose="020B0604020202020204" pitchFamily="34" charset="0"/>
              <a:buChar char="•"/>
            </a:pPr>
            <a:r>
              <a:rPr lang="en-US" altLang="en-US" sz="2000" b="1" dirty="0">
                <a:latin typeface="Aptos" panose="020B0004020202020204" pitchFamily="34" charset="0"/>
              </a:rPr>
              <a:t>Advanced Analytics: </a:t>
            </a:r>
            <a:r>
              <a:rPr lang="en-US" altLang="en-US" sz="2000" dirty="0">
                <a:latin typeface="Aptos" panose="020B0004020202020204" pitchFamily="34" charset="0"/>
              </a:rPr>
              <a:t>Developed sophisticated numerical measurements and business logic using DAX Functions, including CALCULATE, SUM, AVERAGE, IF, SWITCH, and various aggregation tools. </a:t>
            </a:r>
          </a:p>
          <a:p>
            <a:pPr marL="342900" lvl="0" indent="-342900" eaLnBrk="0" fontAlgn="base" hangingPunct="0">
              <a:spcBef>
                <a:spcPct val="0"/>
              </a:spcBef>
              <a:spcAft>
                <a:spcPct val="0"/>
              </a:spcAft>
              <a:buFont typeface="Arial" panose="020B0604020202020204" pitchFamily="34" charset="0"/>
              <a:buChar char="•"/>
            </a:pPr>
            <a:endParaRPr lang="en-US" altLang="en-US" sz="2000" dirty="0">
              <a:latin typeface="Aptos" panose="020B0004020202020204" pitchFamily="34" charset="0"/>
            </a:endParaRPr>
          </a:p>
          <a:p>
            <a:pPr marL="342900" lvl="0" indent="-342900" eaLnBrk="0" fontAlgn="base" hangingPunct="0">
              <a:spcBef>
                <a:spcPct val="0"/>
              </a:spcBef>
              <a:spcAft>
                <a:spcPct val="0"/>
              </a:spcAft>
              <a:buFont typeface="Arial" panose="020B0604020202020204" pitchFamily="34" charset="0"/>
              <a:buChar char="•"/>
            </a:pPr>
            <a:r>
              <a:rPr lang="en-US" altLang="en-US" sz="2000" b="1" dirty="0">
                <a:latin typeface="Aptos" panose="020B0004020202020204" pitchFamily="34" charset="0"/>
              </a:rPr>
              <a:t>Interactive Reporting: </a:t>
            </a:r>
            <a:r>
              <a:rPr lang="en-US" altLang="en-US" sz="2000" dirty="0">
                <a:latin typeface="Aptos" panose="020B0004020202020204" pitchFamily="34" charset="0"/>
              </a:rPr>
              <a:t>Designed and deployed comprehensive Power BI dashboards, utilizing a variety of visualization formats such as charts, tables, and tabular views to deliver clear, actionable insights.</a:t>
            </a:r>
            <a:endParaRPr kumimoji="0" lang="en-US" altLang="en-US" sz="2000" i="0" u="none" strike="noStrike" cap="none" normalizeH="0" baseline="0" dirty="0">
              <a:ln>
                <a:noFill/>
              </a:ln>
              <a:solidFill>
                <a:schemeClr val="tx1"/>
              </a:solidFill>
              <a:effectLst/>
              <a:latin typeface="Aptos" panose="020B0004020202020204" pitchFamily="34" charset="0"/>
            </a:endParaRPr>
          </a:p>
        </p:txBody>
      </p:sp>
    </p:spTree>
    <p:extLst>
      <p:ext uri="{BB962C8B-B14F-4D97-AF65-F5344CB8AC3E}">
        <p14:creationId xmlns:p14="http://schemas.microsoft.com/office/powerpoint/2010/main" val="26833915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0E29AA-5A54-245C-01A6-9DC9F6C08FBB}"/>
            </a:ext>
          </a:extLst>
        </p:cNvPr>
        <p:cNvGrpSpPr/>
        <p:nvPr/>
      </p:nvGrpSpPr>
      <p:grpSpPr>
        <a:xfrm>
          <a:off x="0" y="0"/>
          <a:ext cx="0" cy="0"/>
          <a:chOff x="0" y="0"/>
          <a:chExt cx="0" cy="0"/>
        </a:xfrm>
      </p:grpSpPr>
      <p:sp>
        <p:nvSpPr>
          <p:cNvPr id="4" name="TextBox 2">
            <a:extLst>
              <a:ext uri="{FF2B5EF4-FFF2-40B4-BE49-F238E27FC236}">
                <a16:creationId xmlns:a16="http://schemas.microsoft.com/office/drawing/2014/main" id="{BB7B1CB5-B2DD-A26B-DF9F-966C795A9322}"/>
              </a:ext>
            </a:extLst>
          </p:cNvPr>
          <p:cNvSpPr txBox="1"/>
          <p:nvPr/>
        </p:nvSpPr>
        <p:spPr>
          <a:xfrm>
            <a:off x="0" y="121673"/>
            <a:ext cx="12142377" cy="885627"/>
          </a:xfrm>
          <a:prstGeom prst="rect">
            <a:avLst/>
          </a:prstGeom>
        </p:spPr>
        <p:txBody>
          <a:bodyPr wrap="square" lIns="0" tIns="0" rIns="0" bIns="0" rtlCol="0" anchor="t">
            <a:spAutoFit/>
          </a:bodyPr>
          <a:lstStyle/>
          <a:p>
            <a:pPr algn="ctr">
              <a:lnSpc>
                <a:spcPts val="7837"/>
              </a:lnSpc>
            </a:pPr>
            <a:r>
              <a:rPr lang="en-US" sz="4000" b="1" dirty="0">
                <a:solidFill>
                  <a:srgbClr val="273348"/>
                </a:solidFill>
                <a:latin typeface="Cy Grotesk Key Bold"/>
                <a:ea typeface="Cy Grotesk Key Bold"/>
                <a:cs typeface="Cy Grotesk Key Bold"/>
                <a:sym typeface="Cy Grotesk Key Bold"/>
              </a:rPr>
              <a:t>Total Revenue By Department</a:t>
            </a:r>
          </a:p>
        </p:txBody>
      </p:sp>
      <p:sp>
        <p:nvSpPr>
          <p:cNvPr id="5" name="TextBox 4">
            <a:extLst>
              <a:ext uri="{FF2B5EF4-FFF2-40B4-BE49-F238E27FC236}">
                <a16:creationId xmlns:a16="http://schemas.microsoft.com/office/drawing/2014/main" id="{D6B6CA22-B6A5-CB3F-773D-3F96E44EC5B8}"/>
              </a:ext>
            </a:extLst>
          </p:cNvPr>
          <p:cNvSpPr txBox="1"/>
          <p:nvPr/>
        </p:nvSpPr>
        <p:spPr>
          <a:xfrm>
            <a:off x="5679000" y="1827645"/>
            <a:ext cx="6205539" cy="3785652"/>
          </a:xfrm>
          <a:prstGeom prst="rect">
            <a:avLst/>
          </a:prstGeom>
          <a:noFill/>
        </p:spPr>
        <p:txBody>
          <a:bodyPr wrap="square" rtlCol="0">
            <a:spAutoFit/>
          </a:bodyPr>
          <a:lstStyle/>
          <a:p>
            <a:pPr marL="342900" lvl="0" indent="-342900">
              <a:buFont typeface="Arial" panose="020B0604020202020204" pitchFamily="34" charset="0"/>
              <a:buChar char="•"/>
            </a:pPr>
            <a:r>
              <a:rPr lang="en-GB" sz="2000" dirty="0" err="1">
                <a:latin typeface="Aptos" panose="020B0004020202020204" pitchFamily="34" charset="0"/>
                <a:cs typeface="Arial" panose="020B0604020202020204" pitchFamily="34" charset="0"/>
              </a:rPr>
              <a:t>Orthopedics</a:t>
            </a:r>
            <a:r>
              <a:rPr lang="en-GB" sz="2000" dirty="0">
                <a:latin typeface="Aptos" panose="020B0004020202020204" pitchFamily="34" charset="0"/>
                <a:cs typeface="Arial" panose="020B0604020202020204" pitchFamily="34" charset="0"/>
              </a:rPr>
              <a:t> and General Practice are the primary contributors, generating 173M and 164M respectively. Together, they represent the vast majority of the hospital's total revenue.</a:t>
            </a:r>
          </a:p>
          <a:p>
            <a:pPr marL="342900" lvl="0" indent="-342900">
              <a:buFont typeface="Arial" panose="020B0604020202020204" pitchFamily="34" charset="0"/>
              <a:buChar char="•"/>
            </a:pPr>
            <a:endParaRPr lang="en-GB" sz="2000" dirty="0">
              <a:latin typeface="Aptos" panose="020B0004020202020204" pitchFamily="34" charset="0"/>
              <a:cs typeface="Arial" panose="020B0604020202020204" pitchFamily="34" charset="0"/>
            </a:endParaRPr>
          </a:p>
          <a:p>
            <a:pPr marL="342900" lvl="0" indent="-342900">
              <a:buFont typeface="Arial" panose="020B0604020202020204" pitchFamily="34" charset="0"/>
              <a:buChar char="•"/>
            </a:pPr>
            <a:r>
              <a:rPr lang="en-GB" sz="2000" dirty="0">
                <a:latin typeface="Aptos" panose="020B0004020202020204" pitchFamily="34" charset="0"/>
              </a:rPr>
              <a:t>Neurology and Cardiology form a second tier of revenue, contributing 73M and 68M.</a:t>
            </a:r>
          </a:p>
          <a:p>
            <a:pPr marL="342900" lvl="0" indent="-342900">
              <a:buFont typeface="Arial" panose="020B0604020202020204" pitchFamily="34" charset="0"/>
              <a:buChar char="•"/>
            </a:pPr>
            <a:endParaRPr lang="en-GB" sz="2000" dirty="0">
              <a:latin typeface="Aptos" panose="020B0004020202020204" pitchFamily="34" charset="0"/>
            </a:endParaRPr>
          </a:p>
          <a:p>
            <a:pPr marL="342900" lvl="0" indent="-342900">
              <a:buFont typeface="Arial" panose="020B0604020202020204" pitchFamily="34" charset="0"/>
              <a:buChar char="•"/>
            </a:pPr>
            <a:r>
              <a:rPr lang="en-GB" sz="2000" dirty="0">
                <a:latin typeface="Aptos" panose="020B0004020202020204" pitchFamily="34" charset="0"/>
              </a:rPr>
              <a:t>There is a significant drop-off in revenue after the top four departments. Physiotherapy (17M), Gastroenterology (10M), and Renal (5M) contribute substantially less to the overall financial total.</a:t>
            </a:r>
          </a:p>
        </p:txBody>
      </p:sp>
      <p:pic>
        <p:nvPicPr>
          <p:cNvPr id="3" name="Picture 2">
            <a:extLst>
              <a:ext uri="{FF2B5EF4-FFF2-40B4-BE49-F238E27FC236}">
                <a16:creationId xmlns:a16="http://schemas.microsoft.com/office/drawing/2014/main" id="{099F8976-EEEF-D91E-0940-81F2B9CAC786}"/>
              </a:ext>
            </a:extLst>
          </p:cNvPr>
          <p:cNvPicPr>
            <a:picLocks noChangeAspect="1"/>
          </p:cNvPicPr>
          <p:nvPr/>
        </p:nvPicPr>
        <p:blipFill>
          <a:blip r:embed="rId2"/>
          <a:stretch>
            <a:fillRect/>
          </a:stretch>
        </p:blipFill>
        <p:spPr>
          <a:xfrm>
            <a:off x="307461" y="1906330"/>
            <a:ext cx="5077501" cy="3706967"/>
          </a:xfrm>
          <a:prstGeom prst="rect">
            <a:avLst/>
          </a:prstGeom>
        </p:spPr>
      </p:pic>
    </p:spTree>
    <p:extLst>
      <p:ext uri="{BB962C8B-B14F-4D97-AF65-F5344CB8AC3E}">
        <p14:creationId xmlns:p14="http://schemas.microsoft.com/office/powerpoint/2010/main" val="2556273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558610-26EA-E018-1719-B8E13010A448}"/>
            </a:ext>
          </a:extLst>
        </p:cNvPr>
        <p:cNvGrpSpPr/>
        <p:nvPr/>
      </p:nvGrpSpPr>
      <p:grpSpPr>
        <a:xfrm>
          <a:off x="0" y="0"/>
          <a:ext cx="0" cy="0"/>
          <a:chOff x="0" y="0"/>
          <a:chExt cx="0" cy="0"/>
        </a:xfrm>
      </p:grpSpPr>
      <p:sp>
        <p:nvSpPr>
          <p:cNvPr id="4" name="TextBox 2">
            <a:extLst>
              <a:ext uri="{FF2B5EF4-FFF2-40B4-BE49-F238E27FC236}">
                <a16:creationId xmlns:a16="http://schemas.microsoft.com/office/drawing/2014/main" id="{07B0C6F5-AA7B-E2D9-659C-FA58502D231A}"/>
              </a:ext>
            </a:extLst>
          </p:cNvPr>
          <p:cNvSpPr txBox="1"/>
          <p:nvPr/>
        </p:nvSpPr>
        <p:spPr>
          <a:xfrm>
            <a:off x="0" y="121673"/>
            <a:ext cx="12142377" cy="885627"/>
          </a:xfrm>
          <a:prstGeom prst="rect">
            <a:avLst/>
          </a:prstGeom>
        </p:spPr>
        <p:txBody>
          <a:bodyPr wrap="square" lIns="0" tIns="0" rIns="0" bIns="0" rtlCol="0" anchor="t">
            <a:spAutoFit/>
          </a:bodyPr>
          <a:lstStyle/>
          <a:p>
            <a:pPr algn="ctr">
              <a:lnSpc>
                <a:spcPts val="7837"/>
              </a:lnSpc>
            </a:pPr>
            <a:r>
              <a:rPr lang="en-US" sz="4000" b="1" dirty="0">
                <a:solidFill>
                  <a:srgbClr val="273348"/>
                </a:solidFill>
                <a:latin typeface="Cy Grotesk Key Bold"/>
                <a:ea typeface="Cy Grotesk Key Bold"/>
                <a:cs typeface="Cy Grotesk Key Bold"/>
                <a:sym typeface="Cy Grotesk Key Bold"/>
              </a:rPr>
              <a:t>Patient Wait time Vs. Avg. Satisfaction Score</a:t>
            </a:r>
          </a:p>
        </p:txBody>
      </p:sp>
      <p:pic>
        <p:nvPicPr>
          <p:cNvPr id="2" name="Picture 1">
            <a:extLst>
              <a:ext uri="{FF2B5EF4-FFF2-40B4-BE49-F238E27FC236}">
                <a16:creationId xmlns:a16="http://schemas.microsoft.com/office/drawing/2014/main" id="{37DA9C05-0C45-B573-64D5-CBA08C8F4DE7}"/>
              </a:ext>
            </a:extLst>
          </p:cNvPr>
          <p:cNvPicPr>
            <a:picLocks noChangeAspect="1"/>
          </p:cNvPicPr>
          <p:nvPr/>
        </p:nvPicPr>
        <p:blipFill>
          <a:blip r:embed="rId2"/>
          <a:stretch>
            <a:fillRect/>
          </a:stretch>
        </p:blipFill>
        <p:spPr>
          <a:xfrm>
            <a:off x="0" y="1708764"/>
            <a:ext cx="6337300" cy="4102100"/>
          </a:xfrm>
          <a:prstGeom prst="rect">
            <a:avLst/>
          </a:prstGeom>
        </p:spPr>
      </p:pic>
      <p:sp>
        <p:nvSpPr>
          <p:cNvPr id="5" name="TextBox 4">
            <a:extLst>
              <a:ext uri="{FF2B5EF4-FFF2-40B4-BE49-F238E27FC236}">
                <a16:creationId xmlns:a16="http://schemas.microsoft.com/office/drawing/2014/main" id="{73A7A333-2874-97F7-A62C-1D51F24FF2B0}"/>
              </a:ext>
            </a:extLst>
          </p:cNvPr>
          <p:cNvSpPr txBox="1"/>
          <p:nvPr/>
        </p:nvSpPr>
        <p:spPr>
          <a:xfrm>
            <a:off x="6386923" y="2252820"/>
            <a:ext cx="5805077" cy="2246769"/>
          </a:xfrm>
          <a:prstGeom prst="rect">
            <a:avLst/>
          </a:prstGeom>
          <a:noFill/>
        </p:spPr>
        <p:txBody>
          <a:bodyPr wrap="square" rtlCol="0">
            <a:spAutoFit/>
          </a:bodyPr>
          <a:lstStyle/>
          <a:p>
            <a:pPr marL="342900" lvl="0" indent="-342900">
              <a:buFont typeface="Arial" panose="020B0604020202020204" pitchFamily="34" charset="0"/>
              <a:buChar char="•"/>
            </a:pPr>
            <a:r>
              <a:rPr lang="en-GB" sz="2000" dirty="0">
                <a:latin typeface="Aptos" panose="020B0004020202020204" pitchFamily="34" charset="0"/>
              </a:rPr>
              <a:t>There is a clear negative </a:t>
            </a:r>
            <a:r>
              <a:rPr lang="en-GB" sz="2000" dirty="0" err="1">
                <a:latin typeface="Aptos" panose="020B0004020202020204" pitchFamily="34" charset="0"/>
              </a:rPr>
              <a:t>relationship.As</a:t>
            </a:r>
            <a:r>
              <a:rPr lang="en-GB" sz="2000" dirty="0">
                <a:latin typeface="Aptos" panose="020B0004020202020204" pitchFamily="34" charset="0"/>
              </a:rPr>
              <a:t> wait times increase, satisfaction scores generally decrease.</a:t>
            </a:r>
          </a:p>
          <a:p>
            <a:pPr marL="342900" lvl="0" indent="-342900">
              <a:buFont typeface="Arial" panose="020B0604020202020204" pitchFamily="34" charset="0"/>
              <a:buChar char="•"/>
            </a:pPr>
            <a:endParaRPr lang="en-GB" sz="2000" dirty="0">
              <a:latin typeface="Aptos" panose="020B0004020202020204" pitchFamily="34" charset="0"/>
            </a:endParaRPr>
          </a:p>
          <a:p>
            <a:pPr marL="342900" lvl="0" indent="-342900">
              <a:buFont typeface="Arial" panose="020B0604020202020204" pitchFamily="34" charset="0"/>
              <a:buChar char="•"/>
            </a:pPr>
            <a:r>
              <a:rPr lang="en-GB" sz="2000" dirty="0">
                <a:latin typeface="Aptos" panose="020B0004020202020204" pitchFamily="34" charset="0"/>
              </a:rPr>
              <a:t>Satisfaction tends to stay stable for short waits but drops significantly once wait times exceed 30 – 40 minutes.</a:t>
            </a:r>
          </a:p>
        </p:txBody>
      </p:sp>
    </p:spTree>
    <p:extLst>
      <p:ext uri="{BB962C8B-B14F-4D97-AF65-F5344CB8AC3E}">
        <p14:creationId xmlns:p14="http://schemas.microsoft.com/office/powerpoint/2010/main" val="31906227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3347E2-EE0E-AF64-F2EF-DCAE072266B4}"/>
            </a:ext>
          </a:extLst>
        </p:cNvPr>
        <p:cNvGrpSpPr/>
        <p:nvPr/>
      </p:nvGrpSpPr>
      <p:grpSpPr>
        <a:xfrm>
          <a:off x="0" y="0"/>
          <a:ext cx="0" cy="0"/>
          <a:chOff x="0" y="0"/>
          <a:chExt cx="0" cy="0"/>
        </a:xfrm>
      </p:grpSpPr>
      <p:sp>
        <p:nvSpPr>
          <p:cNvPr id="4" name="TextBox 2">
            <a:extLst>
              <a:ext uri="{FF2B5EF4-FFF2-40B4-BE49-F238E27FC236}">
                <a16:creationId xmlns:a16="http://schemas.microsoft.com/office/drawing/2014/main" id="{33CAECED-DC40-1D91-8BD0-FAEB91C5863B}"/>
              </a:ext>
            </a:extLst>
          </p:cNvPr>
          <p:cNvSpPr txBox="1"/>
          <p:nvPr/>
        </p:nvSpPr>
        <p:spPr>
          <a:xfrm>
            <a:off x="0" y="121673"/>
            <a:ext cx="12142377" cy="885627"/>
          </a:xfrm>
          <a:prstGeom prst="rect">
            <a:avLst/>
          </a:prstGeom>
        </p:spPr>
        <p:txBody>
          <a:bodyPr wrap="square" lIns="0" tIns="0" rIns="0" bIns="0" rtlCol="0" anchor="t">
            <a:spAutoFit/>
          </a:bodyPr>
          <a:lstStyle/>
          <a:p>
            <a:pPr algn="ctr">
              <a:lnSpc>
                <a:spcPts val="7837"/>
              </a:lnSpc>
            </a:pPr>
            <a:r>
              <a:rPr lang="en-US" sz="4000" b="1" dirty="0">
                <a:solidFill>
                  <a:srgbClr val="273348"/>
                </a:solidFill>
                <a:latin typeface="Cy Grotesk Key Bold"/>
                <a:ea typeface="Cy Grotesk Key Bold"/>
                <a:cs typeface="Cy Grotesk Key Bold"/>
                <a:sym typeface="Cy Grotesk Key Bold"/>
              </a:rPr>
              <a:t>Total Visits by Patient Gender</a:t>
            </a:r>
          </a:p>
        </p:txBody>
      </p:sp>
      <p:sp>
        <p:nvSpPr>
          <p:cNvPr id="5" name="TextBox 4">
            <a:extLst>
              <a:ext uri="{FF2B5EF4-FFF2-40B4-BE49-F238E27FC236}">
                <a16:creationId xmlns:a16="http://schemas.microsoft.com/office/drawing/2014/main" id="{B133E1C6-FE89-85FD-2191-9F2FBDCD87F4}"/>
              </a:ext>
            </a:extLst>
          </p:cNvPr>
          <p:cNvSpPr txBox="1"/>
          <p:nvPr/>
        </p:nvSpPr>
        <p:spPr>
          <a:xfrm>
            <a:off x="6096000" y="2196712"/>
            <a:ext cx="5805077" cy="2862322"/>
          </a:xfrm>
          <a:prstGeom prst="rect">
            <a:avLst/>
          </a:prstGeom>
          <a:noFill/>
        </p:spPr>
        <p:txBody>
          <a:bodyPr wrap="square" rtlCol="0">
            <a:spAutoFit/>
          </a:bodyPr>
          <a:lstStyle/>
          <a:p>
            <a:pPr marL="285750" lvl="0" indent="-285750">
              <a:buFont typeface="Arial" panose="020B0604020202020204" pitchFamily="34" charset="0"/>
              <a:buChar char="•"/>
            </a:pPr>
            <a:r>
              <a:rPr lang="en-GB" sz="2000" dirty="0"/>
              <a:t>Male patients have most visits of 4705 with 51%.</a:t>
            </a:r>
          </a:p>
          <a:p>
            <a:pPr marL="285750" lvl="0" indent="-285750">
              <a:buFont typeface="Arial" panose="020B0604020202020204" pitchFamily="34" charset="0"/>
              <a:buChar char="•"/>
            </a:pPr>
            <a:endParaRPr lang="en-GB" sz="2000" dirty="0"/>
          </a:p>
          <a:p>
            <a:pPr marL="285750" lvl="0" indent="-285750">
              <a:buFont typeface="Arial" panose="020B0604020202020204" pitchFamily="34" charset="0"/>
              <a:buChar char="•"/>
            </a:pPr>
            <a:r>
              <a:rPr lang="en-GB" sz="2000" dirty="0"/>
              <a:t>Female patients have 4487 visits with 48.6%.</a:t>
            </a:r>
          </a:p>
          <a:p>
            <a:pPr marL="285750" lvl="0" indent="-285750">
              <a:buFont typeface="Arial" panose="020B0604020202020204" pitchFamily="34" charset="0"/>
              <a:buChar char="•"/>
            </a:pPr>
            <a:endParaRPr lang="en-GB" sz="2000" dirty="0"/>
          </a:p>
          <a:p>
            <a:pPr marL="285750" lvl="0" indent="-285750">
              <a:buFont typeface="Arial" panose="020B0604020202020204" pitchFamily="34" charset="0"/>
              <a:buChar char="•"/>
            </a:pPr>
            <a:r>
              <a:rPr lang="en-GB" sz="2000" dirty="0"/>
              <a:t>In the data available 24 visits of patients have marked the gender not classified (NC).</a:t>
            </a:r>
          </a:p>
          <a:p>
            <a:pPr marL="285750" lvl="0" indent="-285750">
              <a:buFont typeface="Arial" panose="020B0604020202020204" pitchFamily="34" charset="0"/>
              <a:buChar char="•"/>
            </a:pPr>
            <a:endParaRPr lang="en-GB" sz="2000" dirty="0"/>
          </a:p>
          <a:p>
            <a:pPr marL="285750" lvl="0" indent="-285750">
              <a:buFont typeface="Arial" panose="020B0604020202020204" pitchFamily="34" charset="0"/>
              <a:buChar char="•"/>
            </a:pPr>
            <a:r>
              <a:rPr lang="en-GB" sz="2000" dirty="0"/>
              <a:t>In summary both male and female genders have almost equal visit counts.</a:t>
            </a:r>
          </a:p>
        </p:txBody>
      </p:sp>
      <p:pic>
        <p:nvPicPr>
          <p:cNvPr id="6" name="Picture 5">
            <a:extLst>
              <a:ext uri="{FF2B5EF4-FFF2-40B4-BE49-F238E27FC236}">
                <a16:creationId xmlns:a16="http://schemas.microsoft.com/office/drawing/2014/main" id="{BED032DE-165F-6A69-53AE-9629D689985D}"/>
              </a:ext>
            </a:extLst>
          </p:cNvPr>
          <p:cNvPicPr>
            <a:picLocks noChangeAspect="1"/>
          </p:cNvPicPr>
          <p:nvPr/>
        </p:nvPicPr>
        <p:blipFill>
          <a:blip r:embed="rId2"/>
          <a:stretch>
            <a:fillRect/>
          </a:stretch>
        </p:blipFill>
        <p:spPr>
          <a:xfrm>
            <a:off x="290923" y="2002913"/>
            <a:ext cx="5646417" cy="3645718"/>
          </a:xfrm>
          <a:prstGeom prst="rect">
            <a:avLst/>
          </a:prstGeom>
        </p:spPr>
      </p:pic>
    </p:spTree>
    <p:extLst>
      <p:ext uri="{BB962C8B-B14F-4D97-AF65-F5344CB8AC3E}">
        <p14:creationId xmlns:p14="http://schemas.microsoft.com/office/powerpoint/2010/main" val="2034975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37D2DE-A903-BBB8-61F3-0AB1BD97F269}"/>
            </a:ext>
          </a:extLst>
        </p:cNvPr>
        <p:cNvGrpSpPr/>
        <p:nvPr/>
      </p:nvGrpSpPr>
      <p:grpSpPr>
        <a:xfrm>
          <a:off x="0" y="0"/>
          <a:ext cx="0" cy="0"/>
          <a:chOff x="0" y="0"/>
          <a:chExt cx="0" cy="0"/>
        </a:xfrm>
      </p:grpSpPr>
      <p:sp>
        <p:nvSpPr>
          <p:cNvPr id="4" name="TextBox 2">
            <a:extLst>
              <a:ext uri="{FF2B5EF4-FFF2-40B4-BE49-F238E27FC236}">
                <a16:creationId xmlns:a16="http://schemas.microsoft.com/office/drawing/2014/main" id="{A767DCA0-3E99-4AC6-3E61-D369DEEB0590}"/>
              </a:ext>
            </a:extLst>
          </p:cNvPr>
          <p:cNvSpPr txBox="1"/>
          <p:nvPr/>
        </p:nvSpPr>
        <p:spPr>
          <a:xfrm>
            <a:off x="0" y="121673"/>
            <a:ext cx="12142377" cy="885627"/>
          </a:xfrm>
          <a:prstGeom prst="rect">
            <a:avLst/>
          </a:prstGeom>
        </p:spPr>
        <p:txBody>
          <a:bodyPr wrap="square" lIns="0" tIns="0" rIns="0" bIns="0" rtlCol="0" anchor="t">
            <a:spAutoFit/>
          </a:bodyPr>
          <a:lstStyle/>
          <a:p>
            <a:pPr algn="ctr">
              <a:lnSpc>
                <a:spcPts val="7837"/>
              </a:lnSpc>
            </a:pPr>
            <a:r>
              <a:rPr lang="en-US" sz="4000" b="1" dirty="0">
                <a:solidFill>
                  <a:srgbClr val="273348"/>
                </a:solidFill>
                <a:latin typeface="Cy Grotesk Key Bold"/>
                <a:ea typeface="Cy Grotesk Key Bold"/>
                <a:cs typeface="Cy Grotesk Key Bold"/>
                <a:sym typeface="Cy Grotesk Key Bold"/>
              </a:rPr>
              <a:t>Total Visits by Department</a:t>
            </a:r>
          </a:p>
        </p:txBody>
      </p:sp>
      <p:sp>
        <p:nvSpPr>
          <p:cNvPr id="5" name="TextBox 4">
            <a:extLst>
              <a:ext uri="{FF2B5EF4-FFF2-40B4-BE49-F238E27FC236}">
                <a16:creationId xmlns:a16="http://schemas.microsoft.com/office/drawing/2014/main" id="{F83488CC-2FF3-A3F9-5496-BBF7774F8A64}"/>
              </a:ext>
            </a:extLst>
          </p:cNvPr>
          <p:cNvSpPr txBox="1"/>
          <p:nvPr/>
        </p:nvSpPr>
        <p:spPr>
          <a:xfrm>
            <a:off x="6071188" y="2277103"/>
            <a:ext cx="5805077" cy="3477875"/>
          </a:xfrm>
          <a:prstGeom prst="rect">
            <a:avLst/>
          </a:prstGeom>
          <a:noFill/>
        </p:spPr>
        <p:txBody>
          <a:bodyPr wrap="square" rtlCol="0">
            <a:spAutoFit/>
          </a:bodyPr>
          <a:lstStyle/>
          <a:p>
            <a:pPr marL="285750" lvl="0" indent="-285750">
              <a:buFont typeface="Arial" panose="020B0604020202020204" pitchFamily="34" charset="0"/>
              <a:buChar char="•"/>
            </a:pPr>
            <a:r>
              <a:rPr lang="en-GB" sz="2000" dirty="0"/>
              <a:t>The hospital has a total of 9,216 visits.</a:t>
            </a:r>
          </a:p>
          <a:p>
            <a:pPr marL="285750" lvl="0" indent="-285750">
              <a:buFont typeface="Arial" panose="020B0604020202020204" pitchFamily="34" charset="0"/>
              <a:buChar char="•"/>
            </a:pPr>
            <a:endParaRPr lang="en-GB" sz="2000" dirty="0"/>
          </a:p>
          <a:p>
            <a:pPr marL="285750" lvl="0" indent="-285750">
              <a:buFont typeface="Arial" panose="020B0604020202020204" pitchFamily="34" charset="0"/>
              <a:buChar char="•"/>
            </a:pPr>
            <a:r>
              <a:rPr lang="en-GB" sz="2000" dirty="0"/>
              <a:t>General Practice (7240) handles highest number of visits.</a:t>
            </a:r>
          </a:p>
          <a:p>
            <a:pPr marL="285750" lvl="0" indent="-285750">
              <a:buFont typeface="Arial" panose="020B0604020202020204" pitchFamily="34" charset="0"/>
              <a:buChar char="•"/>
            </a:pPr>
            <a:endParaRPr lang="en-GB" sz="2000" dirty="0"/>
          </a:p>
          <a:p>
            <a:pPr marL="285750" lvl="0" indent="-285750">
              <a:buFont typeface="Arial" panose="020B0604020202020204" pitchFamily="34" charset="0"/>
              <a:buChar char="•"/>
            </a:pPr>
            <a:r>
              <a:rPr lang="en-GB" sz="2000" dirty="0"/>
              <a:t>Following with </a:t>
            </a:r>
            <a:r>
              <a:rPr lang="en-GB" sz="2000" dirty="0" err="1"/>
              <a:t>Orthopedics</a:t>
            </a:r>
            <a:r>
              <a:rPr lang="en-GB" sz="2000" dirty="0"/>
              <a:t> (995) visits, all other departments handles significantly lower patients.</a:t>
            </a:r>
          </a:p>
          <a:p>
            <a:pPr marL="285750" lvl="0" indent="-285750">
              <a:buFont typeface="Arial" panose="020B0604020202020204" pitchFamily="34" charset="0"/>
              <a:buChar char="•"/>
            </a:pPr>
            <a:endParaRPr lang="en-GB" sz="2000" dirty="0"/>
          </a:p>
          <a:p>
            <a:pPr marL="285750" lvl="0" indent="-285750">
              <a:buFont typeface="Arial" panose="020B0604020202020204" pitchFamily="34" charset="0"/>
              <a:buChar char="•"/>
            </a:pPr>
            <a:r>
              <a:rPr lang="en-GB" sz="2000" dirty="0"/>
              <a:t>This indicates inefficiency in categorizing patients, and uneven distribution of patients.</a:t>
            </a:r>
          </a:p>
        </p:txBody>
      </p:sp>
      <p:pic>
        <p:nvPicPr>
          <p:cNvPr id="2" name="Picture 1">
            <a:extLst>
              <a:ext uri="{FF2B5EF4-FFF2-40B4-BE49-F238E27FC236}">
                <a16:creationId xmlns:a16="http://schemas.microsoft.com/office/drawing/2014/main" id="{9542091B-9D81-EF5C-45FB-C24BF88CE9C6}"/>
              </a:ext>
            </a:extLst>
          </p:cNvPr>
          <p:cNvPicPr>
            <a:picLocks noChangeAspect="1"/>
          </p:cNvPicPr>
          <p:nvPr/>
        </p:nvPicPr>
        <p:blipFill>
          <a:blip r:embed="rId2"/>
          <a:stretch>
            <a:fillRect/>
          </a:stretch>
        </p:blipFill>
        <p:spPr>
          <a:xfrm>
            <a:off x="315735" y="1865875"/>
            <a:ext cx="5524626" cy="4300332"/>
          </a:xfrm>
          <a:prstGeom prst="rect">
            <a:avLst/>
          </a:prstGeom>
        </p:spPr>
      </p:pic>
    </p:spTree>
    <p:extLst>
      <p:ext uri="{BB962C8B-B14F-4D97-AF65-F5344CB8AC3E}">
        <p14:creationId xmlns:p14="http://schemas.microsoft.com/office/powerpoint/2010/main" val="27084785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F7CFFD-6435-BFDE-B68B-A81793062B9B}"/>
            </a:ext>
          </a:extLst>
        </p:cNvPr>
        <p:cNvGrpSpPr/>
        <p:nvPr/>
      </p:nvGrpSpPr>
      <p:grpSpPr>
        <a:xfrm>
          <a:off x="0" y="0"/>
          <a:ext cx="0" cy="0"/>
          <a:chOff x="0" y="0"/>
          <a:chExt cx="0" cy="0"/>
        </a:xfrm>
      </p:grpSpPr>
      <p:sp>
        <p:nvSpPr>
          <p:cNvPr id="4" name="TextBox 2">
            <a:extLst>
              <a:ext uri="{FF2B5EF4-FFF2-40B4-BE49-F238E27FC236}">
                <a16:creationId xmlns:a16="http://schemas.microsoft.com/office/drawing/2014/main" id="{82A52797-90B8-ABC4-7923-992B861DF1AF}"/>
              </a:ext>
            </a:extLst>
          </p:cNvPr>
          <p:cNvSpPr txBox="1"/>
          <p:nvPr/>
        </p:nvSpPr>
        <p:spPr>
          <a:xfrm>
            <a:off x="0" y="121673"/>
            <a:ext cx="12142377" cy="885627"/>
          </a:xfrm>
          <a:prstGeom prst="rect">
            <a:avLst/>
          </a:prstGeom>
        </p:spPr>
        <p:txBody>
          <a:bodyPr wrap="square" lIns="0" tIns="0" rIns="0" bIns="0" rtlCol="0" anchor="t">
            <a:spAutoFit/>
          </a:bodyPr>
          <a:lstStyle/>
          <a:p>
            <a:pPr algn="ctr">
              <a:lnSpc>
                <a:spcPts val="7837"/>
              </a:lnSpc>
            </a:pPr>
            <a:r>
              <a:rPr lang="en-US" sz="4000" b="1" dirty="0">
                <a:solidFill>
                  <a:srgbClr val="273348"/>
                </a:solidFill>
                <a:latin typeface="Cy Grotesk Key Bold"/>
                <a:ea typeface="Cy Grotesk Key Bold"/>
                <a:cs typeface="Cy Grotesk Key Bold"/>
                <a:sym typeface="Cy Grotesk Key Bold"/>
              </a:rPr>
              <a:t>Volume Trend Analysis</a:t>
            </a:r>
          </a:p>
        </p:txBody>
      </p:sp>
      <p:pic>
        <p:nvPicPr>
          <p:cNvPr id="3" name="Picture 2">
            <a:extLst>
              <a:ext uri="{FF2B5EF4-FFF2-40B4-BE49-F238E27FC236}">
                <a16:creationId xmlns:a16="http://schemas.microsoft.com/office/drawing/2014/main" id="{4D805DC7-77E9-2FF8-894D-8B6A4E0850D1}"/>
              </a:ext>
            </a:extLst>
          </p:cNvPr>
          <p:cNvPicPr>
            <a:picLocks noChangeAspect="1"/>
          </p:cNvPicPr>
          <p:nvPr/>
        </p:nvPicPr>
        <p:blipFill>
          <a:blip r:embed="rId2"/>
          <a:srcRect t="1420" r="-996"/>
          <a:stretch>
            <a:fillRect/>
          </a:stretch>
        </p:blipFill>
        <p:spPr>
          <a:xfrm>
            <a:off x="0" y="1870879"/>
            <a:ext cx="6371305" cy="3116241"/>
          </a:xfrm>
          <a:prstGeom prst="rect">
            <a:avLst/>
          </a:prstGeom>
        </p:spPr>
      </p:pic>
      <p:sp>
        <p:nvSpPr>
          <p:cNvPr id="6" name="TextBox 5">
            <a:extLst>
              <a:ext uri="{FF2B5EF4-FFF2-40B4-BE49-F238E27FC236}">
                <a16:creationId xmlns:a16="http://schemas.microsoft.com/office/drawing/2014/main" id="{B6423FF9-8EF6-65FC-753B-11C9AB1A8D3D}"/>
              </a:ext>
            </a:extLst>
          </p:cNvPr>
          <p:cNvSpPr txBox="1"/>
          <p:nvPr/>
        </p:nvSpPr>
        <p:spPr>
          <a:xfrm>
            <a:off x="6371305" y="1371772"/>
            <a:ext cx="5667832" cy="4708981"/>
          </a:xfrm>
          <a:prstGeom prst="rect">
            <a:avLst/>
          </a:prstGeom>
          <a:noFill/>
        </p:spPr>
        <p:txBody>
          <a:bodyPr wrap="square" rtlCol="0">
            <a:spAutoFit/>
          </a:bodyPr>
          <a:lstStyle/>
          <a:p>
            <a:pPr marL="342900" lvl="0" indent="-342900">
              <a:buFont typeface="Arial" panose="020B0604020202020204" pitchFamily="34" charset="0"/>
              <a:buChar char="•"/>
            </a:pPr>
            <a:r>
              <a:rPr lang="en-GB" sz="2000" dirty="0"/>
              <a:t>ER visits reached a record high of 530 in August 2020, indicating a significant summer surge.</a:t>
            </a:r>
          </a:p>
          <a:p>
            <a:pPr marL="342900" lvl="0" indent="-342900">
              <a:buFont typeface="Arial" panose="020B0604020202020204" pitchFamily="34" charset="0"/>
              <a:buChar char="•"/>
            </a:pPr>
            <a:endParaRPr lang="en-GB" sz="2000" dirty="0"/>
          </a:p>
          <a:p>
            <a:pPr marL="342900" lvl="0" indent="-342900">
              <a:buFont typeface="Arial" panose="020B0604020202020204" pitchFamily="34" charset="0"/>
              <a:buChar char="•"/>
            </a:pPr>
            <a:r>
              <a:rPr lang="en-GB" sz="2000" dirty="0"/>
              <a:t>The data exhibits sharp peaks and valleys, with notable monthly fluctuations and periodic drops in February.</a:t>
            </a:r>
          </a:p>
          <a:p>
            <a:pPr marL="342900" lvl="0" indent="-342900">
              <a:buFont typeface="Arial" panose="020B0604020202020204" pitchFamily="34" charset="0"/>
              <a:buChar char="•"/>
            </a:pPr>
            <a:endParaRPr lang="en-GB" sz="2000" dirty="0"/>
          </a:p>
          <a:p>
            <a:pPr marL="342900" lvl="0" indent="-342900">
              <a:buFont typeface="Arial" panose="020B0604020202020204" pitchFamily="34" charset="0"/>
              <a:buChar char="•"/>
            </a:pPr>
            <a:r>
              <a:rPr lang="en-GB" sz="2000" dirty="0"/>
              <a:t>Every significant dip is followed by a steep increase, requiring the hospital to be prepared for sudden patient surges after quiet periods.</a:t>
            </a:r>
          </a:p>
          <a:p>
            <a:pPr marL="342900" lvl="0" indent="-342900">
              <a:buFont typeface="Arial" panose="020B0604020202020204" pitchFamily="34" charset="0"/>
              <a:buChar char="•"/>
            </a:pPr>
            <a:endParaRPr lang="en-GB" sz="2000" dirty="0"/>
          </a:p>
          <a:p>
            <a:pPr marL="342900" lvl="0" indent="-342900">
              <a:buFont typeface="Arial" panose="020B0604020202020204" pitchFamily="34" charset="0"/>
              <a:buChar char="•"/>
            </a:pPr>
            <a:r>
              <a:rPr lang="en-GB" sz="2000" dirty="0"/>
              <a:t>Volume remains consistently higher in the latter half of the year, suggesting the hospital is operating at an increased overall capacity over time.</a:t>
            </a:r>
            <a:endParaRPr lang="en-US" sz="2000" dirty="0"/>
          </a:p>
        </p:txBody>
      </p:sp>
    </p:spTree>
    <p:extLst>
      <p:ext uri="{BB962C8B-B14F-4D97-AF65-F5344CB8AC3E}">
        <p14:creationId xmlns:p14="http://schemas.microsoft.com/office/powerpoint/2010/main" val="42267875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8AB5D4-A432-9123-F526-D156AB40EA78}"/>
            </a:ext>
          </a:extLst>
        </p:cNvPr>
        <p:cNvGrpSpPr/>
        <p:nvPr/>
      </p:nvGrpSpPr>
      <p:grpSpPr>
        <a:xfrm>
          <a:off x="0" y="0"/>
          <a:ext cx="0" cy="0"/>
          <a:chOff x="0" y="0"/>
          <a:chExt cx="0" cy="0"/>
        </a:xfrm>
      </p:grpSpPr>
      <p:sp>
        <p:nvSpPr>
          <p:cNvPr id="4" name="TextBox 2">
            <a:extLst>
              <a:ext uri="{FF2B5EF4-FFF2-40B4-BE49-F238E27FC236}">
                <a16:creationId xmlns:a16="http://schemas.microsoft.com/office/drawing/2014/main" id="{B089E065-659B-420C-E1DE-D339D735AA1A}"/>
              </a:ext>
            </a:extLst>
          </p:cNvPr>
          <p:cNvSpPr txBox="1"/>
          <p:nvPr/>
        </p:nvSpPr>
        <p:spPr>
          <a:xfrm>
            <a:off x="0" y="-44245"/>
            <a:ext cx="12142377" cy="885627"/>
          </a:xfrm>
          <a:prstGeom prst="rect">
            <a:avLst/>
          </a:prstGeom>
        </p:spPr>
        <p:txBody>
          <a:bodyPr wrap="square" lIns="0" tIns="0" rIns="0" bIns="0" rtlCol="0" anchor="t">
            <a:spAutoFit/>
          </a:bodyPr>
          <a:lstStyle/>
          <a:p>
            <a:pPr algn="ctr">
              <a:lnSpc>
                <a:spcPts val="7837"/>
              </a:lnSpc>
            </a:pPr>
            <a:r>
              <a:rPr lang="en-US" sz="4000" b="1" dirty="0">
                <a:solidFill>
                  <a:srgbClr val="273348"/>
                </a:solidFill>
                <a:latin typeface="Cy Grotesk Key Bold"/>
                <a:ea typeface="Cy Grotesk Key Bold"/>
                <a:cs typeface="Cy Grotesk Key Bold"/>
                <a:sym typeface="Cy Grotesk Key Bold"/>
              </a:rPr>
              <a:t>Recommendations</a:t>
            </a:r>
          </a:p>
        </p:txBody>
      </p:sp>
      <p:sp>
        <p:nvSpPr>
          <p:cNvPr id="6" name="TextBox 5">
            <a:extLst>
              <a:ext uri="{FF2B5EF4-FFF2-40B4-BE49-F238E27FC236}">
                <a16:creationId xmlns:a16="http://schemas.microsoft.com/office/drawing/2014/main" id="{9C2A3278-91E4-2D07-930F-F67C2B5DD2F7}"/>
              </a:ext>
            </a:extLst>
          </p:cNvPr>
          <p:cNvSpPr txBox="1"/>
          <p:nvPr/>
        </p:nvSpPr>
        <p:spPr>
          <a:xfrm>
            <a:off x="489960" y="1369058"/>
            <a:ext cx="11344688" cy="4708981"/>
          </a:xfrm>
          <a:prstGeom prst="rect">
            <a:avLst/>
          </a:prstGeom>
          <a:noFill/>
        </p:spPr>
        <p:txBody>
          <a:bodyPr wrap="square" rtlCol="0">
            <a:spAutoFit/>
          </a:bodyPr>
          <a:lstStyle/>
          <a:p>
            <a:pPr marL="342900" lvl="0" indent="-342900">
              <a:buFont typeface="Arial" panose="020B0604020202020204" pitchFamily="34" charset="0"/>
              <a:buChar char="•"/>
            </a:pPr>
            <a:r>
              <a:rPr lang="en-GB" sz="2000" b="1" dirty="0"/>
              <a:t>Scale Underperforming Departments</a:t>
            </a:r>
            <a:r>
              <a:rPr lang="en-GB" sz="2000" dirty="0"/>
              <a:t>: Target low-revenue areas like Renal (5M) and Gastroenterology (10M) for growth through dedicated marketing or upgraded equipment to capture more market share.</a:t>
            </a:r>
          </a:p>
          <a:p>
            <a:pPr marL="342900" lvl="0" indent="-342900">
              <a:buFont typeface="Arial" panose="020B0604020202020204" pitchFamily="34" charset="0"/>
              <a:buChar char="•"/>
            </a:pPr>
            <a:endParaRPr lang="en-GB" sz="2000" dirty="0"/>
          </a:p>
          <a:p>
            <a:pPr marL="342900" lvl="0" indent="-342900">
              <a:buFont typeface="Arial" panose="020B0604020202020204" pitchFamily="34" charset="0"/>
              <a:buChar char="•"/>
            </a:pPr>
            <a:r>
              <a:rPr lang="en-GB" sz="2000" b="1" dirty="0"/>
              <a:t>Resource Planning for Peak Seasons</a:t>
            </a:r>
            <a:r>
              <a:rPr lang="en-GB" sz="2000" dirty="0"/>
              <a:t>: Implement a proactive staffing and resource model to prepare for the significant summer surge observed in August, ensuring the facility can handle peaks of up to 530 visits.</a:t>
            </a:r>
          </a:p>
          <a:p>
            <a:pPr marL="342900" lvl="0" indent="-342900">
              <a:buFont typeface="Arial" panose="020B0604020202020204" pitchFamily="34" charset="0"/>
              <a:buChar char="•"/>
            </a:pPr>
            <a:endParaRPr lang="en-GB" sz="2000" dirty="0"/>
          </a:p>
          <a:p>
            <a:pPr marL="342900" lvl="0" indent="-342900">
              <a:buFont typeface="Arial" panose="020B0604020202020204" pitchFamily="34" charset="0"/>
              <a:buChar char="•"/>
            </a:pPr>
            <a:r>
              <a:rPr lang="en-GB" sz="2000" b="1" dirty="0"/>
              <a:t>Infrastructure Expansion: </a:t>
            </a:r>
            <a:r>
              <a:rPr lang="en-GB" sz="2000" dirty="0"/>
              <a:t>Given that volume remains consistently higher in the latter half of the year, the hospital should evaluate long-term infrastructure expansion to accommodate this higher operating baseline.</a:t>
            </a:r>
          </a:p>
          <a:p>
            <a:pPr marL="342900" lvl="0" indent="-342900">
              <a:buFont typeface="Arial" panose="020B0604020202020204" pitchFamily="34" charset="0"/>
              <a:buChar char="•"/>
            </a:pPr>
            <a:endParaRPr lang="en-GB" sz="2000" dirty="0"/>
          </a:p>
          <a:p>
            <a:pPr marL="342900" lvl="0" indent="-342900">
              <a:buFont typeface="Arial" panose="020B0604020202020204" pitchFamily="34" charset="0"/>
              <a:buChar char="•"/>
            </a:pPr>
            <a:r>
              <a:rPr lang="en-GB" sz="2000" b="1" dirty="0"/>
              <a:t>Implement Dynamic Staffing Models</a:t>
            </a:r>
            <a:r>
              <a:rPr lang="en-GB" sz="2000" dirty="0"/>
              <a:t>: Since ER demand is highly volatile with sharp peaks and valleys, the hospital should transition to a flexible staffing model that can scale up quickly to meet sudden intake recoveries.</a:t>
            </a:r>
            <a:endParaRPr lang="en-US" sz="2000" dirty="0"/>
          </a:p>
        </p:txBody>
      </p:sp>
    </p:spTree>
    <p:extLst>
      <p:ext uri="{BB962C8B-B14F-4D97-AF65-F5344CB8AC3E}">
        <p14:creationId xmlns:p14="http://schemas.microsoft.com/office/powerpoint/2010/main" val="13499412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E9C5F0-AB32-4A44-7AE3-E715354B1DF0}"/>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6C8947D8-646F-781F-5905-23CF2C2F370A}"/>
              </a:ext>
            </a:extLst>
          </p:cNvPr>
          <p:cNvSpPr txBox="1"/>
          <p:nvPr/>
        </p:nvSpPr>
        <p:spPr>
          <a:xfrm>
            <a:off x="449148" y="1503533"/>
            <a:ext cx="11038659" cy="4093428"/>
          </a:xfrm>
          <a:prstGeom prst="rect">
            <a:avLst/>
          </a:prstGeom>
          <a:noFill/>
        </p:spPr>
        <p:txBody>
          <a:bodyPr wrap="square" rtlCol="0">
            <a:spAutoFit/>
          </a:bodyPr>
          <a:lstStyle/>
          <a:p>
            <a:pPr marL="342900" lvl="0" indent="-342900">
              <a:buFont typeface="Arial" panose="020B0604020202020204" pitchFamily="34" charset="0"/>
              <a:buChar char="•"/>
            </a:pPr>
            <a:r>
              <a:rPr lang="en-GB" sz="2000" b="1" dirty="0"/>
              <a:t>Strengthen Data Integrity and Capture Protocols</a:t>
            </a:r>
            <a:r>
              <a:rPr lang="en-GB" sz="2000" dirty="0"/>
              <a:t>: To overcome limitations caused by high levels of missing data in key columns, the hospital should prioritize standardizing data capture at the source. Improving these inputs will eliminate information gaps, enabling deeper analytical insights and more reliable data driven decision-making.</a:t>
            </a:r>
          </a:p>
          <a:p>
            <a:pPr marL="342900" lvl="0" indent="-342900">
              <a:buFont typeface="Arial" panose="020B0604020202020204" pitchFamily="34" charset="0"/>
              <a:buChar char="•"/>
            </a:pPr>
            <a:endParaRPr lang="en-GB" sz="2000" dirty="0"/>
          </a:p>
          <a:p>
            <a:pPr marL="342900" lvl="0" indent="-342900">
              <a:buFont typeface="Arial" panose="020B0604020202020204" pitchFamily="34" charset="0"/>
              <a:buChar char="•"/>
            </a:pPr>
            <a:r>
              <a:rPr lang="en-GB" sz="2000" b="1" dirty="0"/>
              <a:t>Optimize Discount and Retention Frameworks</a:t>
            </a:r>
            <a:r>
              <a:rPr lang="en-GB" sz="2000" dirty="0"/>
              <a:t>: Develop a tiered discount strategy that prioritizes age demographics and revenue contributions to ensure equitable access across all patient segments. Specifically, increasing discounts for elderly or lower-revenue groups can improve healthcare accessibility and patient engagement. </a:t>
            </a:r>
          </a:p>
          <a:p>
            <a:pPr marL="342900" lvl="0" indent="-342900">
              <a:buFont typeface="Arial" panose="020B0604020202020204" pitchFamily="34" charset="0"/>
              <a:buChar char="•"/>
            </a:pPr>
            <a:endParaRPr lang="en-US" sz="2000" b="1" dirty="0"/>
          </a:p>
          <a:p>
            <a:pPr marL="342900" lvl="0" indent="-342900">
              <a:buFont typeface="Arial" panose="020B0604020202020204" pitchFamily="34" charset="0"/>
              <a:buChar char="•"/>
            </a:pPr>
            <a:r>
              <a:rPr lang="en-GB" sz="2000" b="1" dirty="0"/>
              <a:t>Strategic Doctor Allocation: </a:t>
            </a:r>
            <a:r>
              <a:rPr lang="en-GB" sz="2000" dirty="0"/>
              <a:t>Increase physician staffing in high-revenue and high-demand sectors, such as </a:t>
            </a:r>
            <a:r>
              <a:rPr lang="en-GB" sz="2000" dirty="0" err="1"/>
              <a:t>Orthopedics</a:t>
            </a:r>
            <a:r>
              <a:rPr lang="en-GB" sz="2000" dirty="0"/>
              <a:t> 173M and General Practice 164M to mitigate heavy workloads and maintain stable wait times, which currently average 35–37 minutes.</a:t>
            </a:r>
            <a:endParaRPr lang="en-US" sz="2000" dirty="0"/>
          </a:p>
        </p:txBody>
      </p:sp>
      <p:sp>
        <p:nvSpPr>
          <p:cNvPr id="2" name="TextBox 2">
            <a:extLst>
              <a:ext uri="{FF2B5EF4-FFF2-40B4-BE49-F238E27FC236}">
                <a16:creationId xmlns:a16="http://schemas.microsoft.com/office/drawing/2014/main" id="{2A20B7FD-29D6-B5E6-E0E6-2C2D380DA789}"/>
              </a:ext>
            </a:extLst>
          </p:cNvPr>
          <p:cNvSpPr txBox="1"/>
          <p:nvPr/>
        </p:nvSpPr>
        <p:spPr>
          <a:xfrm>
            <a:off x="0" y="-44245"/>
            <a:ext cx="12142377" cy="885627"/>
          </a:xfrm>
          <a:prstGeom prst="rect">
            <a:avLst/>
          </a:prstGeom>
        </p:spPr>
        <p:txBody>
          <a:bodyPr wrap="square" lIns="0" tIns="0" rIns="0" bIns="0" rtlCol="0" anchor="t">
            <a:spAutoFit/>
          </a:bodyPr>
          <a:lstStyle/>
          <a:p>
            <a:pPr algn="ctr">
              <a:lnSpc>
                <a:spcPts val="7837"/>
              </a:lnSpc>
            </a:pPr>
            <a:r>
              <a:rPr lang="en-US" sz="4000" b="1" dirty="0">
                <a:solidFill>
                  <a:srgbClr val="273348"/>
                </a:solidFill>
                <a:latin typeface="Cy Grotesk Key Bold"/>
                <a:ea typeface="Cy Grotesk Key Bold"/>
                <a:cs typeface="Cy Grotesk Key Bold"/>
                <a:sym typeface="Cy Grotesk Key Bold"/>
              </a:rPr>
              <a:t>Recommendations</a:t>
            </a:r>
          </a:p>
        </p:txBody>
      </p:sp>
    </p:spTree>
    <p:extLst>
      <p:ext uri="{BB962C8B-B14F-4D97-AF65-F5344CB8AC3E}">
        <p14:creationId xmlns:p14="http://schemas.microsoft.com/office/powerpoint/2010/main" val="41896153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BD0C77-27FF-F7D8-9610-AEB52539676E}"/>
            </a:ext>
          </a:extLst>
        </p:cNvPr>
        <p:cNvGrpSpPr/>
        <p:nvPr/>
      </p:nvGrpSpPr>
      <p:grpSpPr>
        <a:xfrm>
          <a:off x="0" y="0"/>
          <a:ext cx="0" cy="0"/>
          <a:chOff x="0" y="0"/>
          <a:chExt cx="0" cy="0"/>
        </a:xfrm>
      </p:grpSpPr>
      <p:sp>
        <p:nvSpPr>
          <p:cNvPr id="4" name="TextBox 2">
            <a:extLst>
              <a:ext uri="{FF2B5EF4-FFF2-40B4-BE49-F238E27FC236}">
                <a16:creationId xmlns:a16="http://schemas.microsoft.com/office/drawing/2014/main" id="{A976ED19-DCCD-4DD3-D1B5-8AF4C0CB38E6}"/>
              </a:ext>
            </a:extLst>
          </p:cNvPr>
          <p:cNvSpPr txBox="1"/>
          <p:nvPr/>
        </p:nvSpPr>
        <p:spPr>
          <a:xfrm>
            <a:off x="0" y="-44245"/>
            <a:ext cx="12142377" cy="885627"/>
          </a:xfrm>
          <a:prstGeom prst="rect">
            <a:avLst/>
          </a:prstGeom>
        </p:spPr>
        <p:txBody>
          <a:bodyPr wrap="square" lIns="0" tIns="0" rIns="0" bIns="0" rtlCol="0" anchor="t">
            <a:spAutoFit/>
          </a:bodyPr>
          <a:lstStyle/>
          <a:p>
            <a:pPr algn="ctr">
              <a:lnSpc>
                <a:spcPts val="7837"/>
              </a:lnSpc>
            </a:pPr>
            <a:r>
              <a:rPr lang="en-US" sz="4000" b="1" dirty="0">
                <a:solidFill>
                  <a:srgbClr val="273348"/>
                </a:solidFill>
                <a:latin typeface="Cy Grotesk Key Bold"/>
                <a:ea typeface="Cy Grotesk Key Bold"/>
                <a:cs typeface="Cy Grotesk Key Bold"/>
                <a:sym typeface="Cy Grotesk Key Bold"/>
              </a:rPr>
              <a:t>Recommendations</a:t>
            </a:r>
          </a:p>
        </p:txBody>
      </p:sp>
      <p:sp>
        <p:nvSpPr>
          <p:cNvPr id="6" name="TextBox 5">
            <a:extLst>
              <a:ext uri="{FF2B5EF4-FFF2-40B4-BE49-F238E27FC236}">
                <a16:creationId xmlns:a16="http://schemas.microsoft.com/office/drawing/2014/main" id="{BD128FA6-621E-0279-E690-2CAF688652E4}"/>
              </a:ext>
            </a:extLst>
          </p:cNvPr>
          <p:cNvSpPr txBox="1"/>
          <p:nvPr/>
        </p:nvSpPr>
        <p:spPr>
          <a:xfrm>
            <a:off x="563297" y="1536174"/>
            <a:ext cx="11065406" cy="3785652"/>
          </a:xfrm>
          <a:prstGeom prst="rect">
            <a:avLst/>
          </a:prstGeom>
          <a:noFill/>
        </p:spPr>
        <p:txBody>
          <a:bodyPr wrap="square" rtlCol="0">
            <a:spAutoFit/>
          </a:bodyPr>
          <a:lstStyle/>
          <a:p>
            <a:pPr marL="342900" lvl="0" indent="-342900">
              <a:buFont typeface="Arial" panose="020B0604020202020204" pitchFamily="34" charset="0"/>
              <a:buChar char="•"/>
            </a:pPr>
            <a:r>
              <a:rPr lang="en-GB" sz="2000" b="1" dirty="0"/>
              <a:t>Targeted Expansion in Cardiology and Neurology</a:t>
            </a:r>
            <a:r>
              <a:rPr lang="en-GB" sz="2000" dirty="0"/>
              <a:t>: These departments already show a significant baseline revenue (68M–73M), targeted investment here could turn them into major revenue pillars alongside </a:t>
            </a:r>
            <a:r>
              <a:rPr lang="en-GB" sz="2000" dirty="0" err="1"/>
              <a:t>Orthopedics</a:t>
            </a:r>
            <a:r>
              <a:rPr lang="en-GB" sz="2000" dirty="0"/>
              <a:t>.</a:t>
            </a:r>
          </a:p>
          <a:p>
            <a:pPr marL="342900" lvl="0" indent="-342900">
              <a:buFont typeface="Arial" panose="020B0604020202020204" pitchFamily="34" charset="0"/>
              <a:buChar char="•"/>
            </a:pPr>
            <a:endParaRPr lang="en-GB" sz="2000" dirty="0"/>
          </a:p>
          <a:p>
            <a:pPr marL="342900" lvl="0" indent="-342900">
              <a:buFont typeface="Arial" panose="020B0604020202020204" pitchFamily="34" charset="0"/>
              <a:buChar char="•"/>
            </a:pPr>
            <a:r>
              <a:rPr lang="en-GB" sz="2000" b="1" dirty="0"/>
              <a:t>Enhance Referral Tracking</a:t>
            </a:r>
            <a:r>
              <a:rPr lang="en-GB" sz="2000" dirty="0"/>
              <a:t>: Since the data is categorized by </a:t>
            </a:r>
            <a:r>
              <a:rPr lang="en-GB" sz="2000" dirty="0" err="1"/>
              <a:t>department_referral</a:t>
            </a:r>
            <a:r>
              <a:rPr lang="en-GB" sz="2000" dirty="0"/>
              <a:t>, the hospital should </a:t>
            </a:r>
            <a:r>
              <a:rPr lang="en-GB" sz="2000" dirty="0" err="1"/>
              <a:t>analyze</a:t>
            </a:r>
            <a:r>
              <a:rPr lang="en-GB" sz="2000" dirty="0"/>
              <a:t> which sources are driving the high volume in </a:t>
            </a:r>
            <a:r>
              <a:rPr lang="en-GB" sz="2000" dirty="0" err="1"/>
              <a:t>Orthopedics</a:t>
            </a:r>
            <a:r>
              <a:rPr lang="en-GB" sz="2000" dirty="0"/>
              <a:t> and replicate those referral strategies for Gastroenterology and Renal services.</a:t>
            </a:r>
          </a:p>
          <a:p>
            <a:pPr marL="342900" lvl="0" indent="-342900">
              <a:buFont typeface="Arial" panose="020B0604020202020204" pitchFamily="34" charset="0"/>
              <a:buChar char="•"/>
            </a:pPr>
            <a:endParaRPr lang="en-US" sz="2000" dirty="0"/>
          </a:p>
          <a:p>
            <a:pPr marL="342900" lvl="0" indent="-342900">
              <a:buFont typeface="Arial" panose="020B0604020202020204" pitchFamily="34" charset="0"/>
              <a:buChar char="•"/>
            </a:pPr>
            <a:r>
              <a:rPr lang="en-GB" sz="2000" b="1" dirty="0"/>
              <a:t>Preventative Care Campaigns in Q1</a:t>
            </a:r>
            <a:r>
              <a:rPr lang="en-GB" sz="2000" dirty="0"/>
              <a:t>: To address the recurring drops in volume during February, the hospital could launch elective procedure packages or health screening campaigns to stabilize revenue during typically quiet periods.</a:t>
            </a:r>
          </a:p>
          <a:p>
            <a:pPr marL="342900" lvl="0" indent="-342900">
              <a:buFont typeface="Arial" panose="020B0604020202020204" pitchFamily="34" charset="0"/>
              <a:buChar char="•"/>
            </a:pPr>
            <a:endParaRPr lang="en-US" sz="2000" dirty="0"/>
          </a:p>
        </p:txBody>
      </p:sp>
    </p:spTree>
    <p:extLst>
      <p:ext uri="{BB962C8B-B14F-4D97-AF65-F5344CB8AC3E}">
        <p14:creationId xmlns:p14="http://schemas.microsoft.com/office/powerpoint/2010/main" val="18147343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09B26F-27D6-77FC-7934-755CB0D3216F}"/>
            </a:ext>
          </a:extLst>
        </p:cNvPr>
        <p:cNvGrpSpPr/>
        <p:nvPr/>
      </p:nvGrpSpPr>
      <p:grpSpPr>
        <a:xfrm>
          <a:off x="0" y="0"/>
          <a:ext cx="0" cy="0"/>
          <a:chOff x="0" y="0"/>
          <a:chExt cx="0" cy="0"/>
        </a:xfrm>
      </p:grpSpPr>
      <p:sp>
        <p:nvSpPr>
          <p:cNvPr id="4" name="TextBox 2">
            <a:extLst>
              <a:ext uri="{FF2B5EF4-FFF2-40B4-BE49-F238E27FC236}">
                <a16:creationId xmlns:a16="http://schemas.microsoft.com/office/drawing/2014/main" id="{3BA1C659-EA21-1113-CBDF-793508A24F0F}"/>
              </a:ext>
            </a:extLst>
          </p:cNvPr>
          <p:cNvSpPr txBox="1"/>
          <p:nvPr/>
        </p:nvSpPr>
        <p:spPr>
          <a:xfrm>
            <a:off x="0" y="-191729"/>
            <a:ext cx="12142377" cy="885627"/>
          </a:xfrm>
          <a:prstGeom prst="rect">
            <a:avLst/>
          </a:prstGeom>
        </p:spPr>
        <p:txBody>
          <a:bodyPr wrap="square" lIns="0" tIns="0" rIns="0" bIns="0" rtlCol="0" anchor="t">
            <a:spAutoFit/>
          </a:bodyPr>
          <a:lstStyle/>
          <a:p>
            <a:pPr algn="ctr">
              <a:lnSpc>
                <a:spcPts val="7837"/>
              </a:lnSpc>
            </a:pPr>
            <a:r>
              <a:rPr lang="en-US" sz="4000" b="1" dirty="0">
                <a:solidFill>
                  <a:srgbClr val="273348"/>
                </a:solidFill>
                <a:latin typeface="Cy Grotesk Key Bold"/>
                <a:ea typeface="Cy Grotesk Key Bold"/>
                <a:cs typeface="Cy Grotesk Key Bold"/>
                <a:sym typeface="Cy Grotesk Key Bold"/>
              </a:rPr>
              <a:t>Conclusion</a:t>
            </a:r>
          </a:p>
        </p:txBody>
      </p:sp>
      <p:sp>
        <p:nvSpPr>
          <p:cNvPr id="6" name="TextBox 5">
            <a:extLst>
              <a:ext uri="{FF2B5EF4-FFF2-40B4-BE49-F238E27FC236}">
                <a16:creationId xmlns:a16="http://schemas.microsoft.com/office/drawing/2014/main" id="{FC0B53A4-B682-308F-E22F-E9F5A3C7E9B0}"/>
              </a:ext>
            </a:extLst>
          </p:cNvPr>
          <p:cNvSpPr txBox="1"/>
          <p:nvPr/>
        </p:nvSpPr>
        <p:spPr>
          <a:xfrm>
            <a:off x="419014" y="1256442"/>
            <a:ext cx="11353971" cy="4708981"/>
          </a:xfrm>
          <a:prstGeom prst="rect">
            <a:avLst/>
          </a:prstGeom>
          <a:noFill/>
        </p:spPr>
        <p:txBody>
          <a:bodyPr wrap="square" rtlCol="0">
            <a:spAutoFit/>
          </a:bodyPr>
          <a:lstStyle/>
          <a:p>
            <a:pPr marL="342900" lvl="0" indent="-342900">
              <a:buFont typeface="Arial" panose="020B0604020202020204" pitchFamily="34" charset="0"/>
              <a:buChar char="•"/>
            </a:pPr>
            <a:r>
              <a:rPr lang="en-US" sz="2000" b="1" dirty="0"/>
              <a:t>Robust Financial Performance: </a:t>
            </a:r>
            <a:r>
              <a:rPr lang="en-US" sz="2000" dirty="0"/>
              <a:t>Columbia Asia Hospital demonstrates strong revenue generation, anchored primarily by the high patient volume and financial contributions of the Orthopedics ($173M) and General Practice ($164M) departments.</a:t>
            </a:r>
          </a:p>
          <a:p>
            <a:pPr marL="342900" lvl="0" indent="-342900">
              <a:buFont typeface="Arial" panose="020B0604020202020204" pitchFamily="34" charset="0"/>
              <a:buChar char="•"/>
            </a:pPr>
            <a:endParaRPr lang="en-US" sz="2000" dirty="0"/>
          </a:p>
          <a:p>
            <a:pPr marL="342900" lvl="0" indent="-342900">
              <a:buFont typeface="Arial" panose="020B0604020202020204" pitchFamily="34" charset="0"/>
              <a:buChar char="•"/>
            </a:pPr>
            <a:r>
              <a:rPr lang="en-US" sz="2000" b="1" dirty="0"/>
              <a:t>Operational Optimization: </a:t>
            </a:r>
            <a:r>
              <a:rPr lang="en-US" sz="2000" dirty="0"/>
              <a:t>Significant opportunities exist to refine staffing by increasing physician presence in high-demand areas and reallocating resources from lower-volume departments, such as Renal ($5M) or Gastroenterology ($10M), to maximize efficiency.</a:t>
            </a:r>
          </a:p>
          <a:p>
            <a:pPr marL="342900" lvl="0" indent="-342900">
              <a:buFont typeface="Arial" panose="020B0604020202020204" pitchFamily="34" charset="0"/>
              <a:buChar char="•"/>
            </a:pPr>
            <a:endParaRPr lang="en-US" sz="2000" dirty="0"/>
          </a:p>
          <a:p>
            <a:pPr marL="342900" lvl="0" indent="-342900">
              <a:buFont typeface="Arial" panose="020B0604020202020204" pitchFamily="34" charset="0"/>
              <a:buChar char="•"/>
            </a:pPr>
            <a:r>
              <a:rPr lang="en-US" sz="2000" b="1" dirty="0"/>
              <a:t>Service Quality Enhancement: </a:t>
            </a:r>
            <a:r>
              <a:rPr lang="en-US" sz="2000" dirty="0"/>
              <a:t>To maintain high standards, the hospital should prioritize a more consistent and engaging satisfaction tracking system, focusing on non-time factors like communication and care coordination that currently cause departmental variance in patient perception.</a:t>
            </a:r>
          </a:p>
          <a:p>
            <a:pPr marL="342900" lvl="0" indent="-342900">
              <a:buFont typeface="Arial" panose="020B0604020202020204" pitchFamily="34" charset="0"/>
              <a:buChar char="•"/>
            </a:pPr>
            <a:endParaRPr lang="en-US" sz="2000" dirty="0"/>
          </a:p>
          <a:p>
            <a:pPr marL="342900" lvl="0" indent="-342900">
              <a:buFont typeface="Arial" panose="020B0604020202020204" pitchFamily="34" charset="0"/>
              <a:buChar char="•"/>
            </a:pPr>
            <a:r>
              <a:rPr lang="en-US" sz="2000" b="1" dirty="0"/>
              <a:t>Data Integrity and Strategy</a:t>
            </a:r>
            <a:r>
              <a:rPr lang="en-US" sz="2000" dirty="0"/>
              <a:t>: Strengthening data capture protocols to eliminate existing information gaps will be critical for enabling deeper future analysis and refining long-term strategic decisions.</a:t>
            </a:r>
          </a:p>
        </p:txBody>
      </p:sp>
    </p:spTree>
    <p:extLst>
      <p:ext uri="{BB962C8B-B14F-4D97-AF65-F5344CB8AC3E}">
        <p14:creationId xmlns:p14="http://schemas.microsoft.com/office/powerpoint/2010/main" val="1587966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2C39AF-DC82-7247-21DD-F54D5B44ED0E}"/>
            </a:ext>
          </a:extLst>
        </p:cNvPr>
        <p:cNvGrpSpPr/>
        <p:nvPr/>
      </p:nvGrpSpPr>
      <p:grpSpPr>
        <a:xfrm>
          <a:off x="0" y="0"/>
          <a:ext cx="0" cy="0"/>
          <a:chOff x="0" y="0"/>
          <a:chExt cx="0" cy="0"/>
        </a:xfrm>
      </p:grpSpPr>
      <p:sp>
        <p:nvSpPr>
          <p:cNvPr id="4" name="TextBox 2">
            <a:extLst>
              <a:ext uri="{FF2B5EF4-FFF2-40B4-BE49-F238E27FC236}">
                <a16:creationId xmlns:a16="http://schemas.microsoft.com/office/drawing/2014/main" id="{EBD9F067-2ECD-94F0-BF72-6A425437950F}"/>
              </a:ext>
            </a:extLst>
          </p:cNvPr>
          <p:cNvSpPr txBox="1"/>
          <p:nvPr/>
        </p:nvSpPr>
        <p:spPr>
          <a:xfrm>
            <a:off x="0" y="-217540"/>
            <a:ext cx="12142377" cy="885627"/>
          </a:xfrm>
          <a:prstGeom prst="rect">
            <a:avLst/>
          </a:prstGeom>
        </p:spPr>
        <p:txBody>
          <a:bodyPr wrap="square" lIns="0" tIns="0" rIns="0" bIns="0" rtlCol="0" anchor="t">
            <a:spAutoFit/>
          </a:bodyPr>
          <a:lstStyle/>
          <a:p>
            <a:pPr algn="ctr">
              <a:lnSpc>
                <a:spcPts val="7837"/>
              </a:lnSpc>
            </a:pPr>
            <a:r>
              <a:rPr lang="en-US" sz="4000" b="1" dirty="0">
                <a:solidFill>
                  <a:srgbClr val="7884F0"/>
                </a:solidFill>
                <a:latin typeface="Cy Grotesk Key Bold"/>
                <a:ea typeface="Cy Grotesk Key Bold"/>
                <a:cs typeface="Cy Grotesk Key Bold"/>
                <a:sym typeface="Cy Grotesk Key Bold"/>
              </a:rPr>
              <a:t>DASHBOARD – Main Tab</a:t>
            </a:r>
          </a:p>
        </p:txBody>
      </p:sp>
      <p:pic>
        <p:nvPicPr>
          <p:cNvPr id="3" name="Picture 2">
            <a:extLst>
              <a:ext uri="{FF2B5EF4-FFF2-40B4-BE49-F238E27FC236}">
                <a16:creationId xmlns:a16="http://schemas.microsoft.com/office/drawing/2014/main" id="{5EEADEE2-FDB6-C7BF-5299-BA666D7FF846}"/>
              </a:ext>
            </a:extLst>
          </p:cNvPr>
          <p:cNvPicPr>
            <a:picLocks noChangeAspect="1"/>
          </p:cNvPicPr>
          <p:nvPr/>
        </p:nvPicPr>
        <p:blipFill>
          <a:blip r:embed="rId2"/>
          <a:stretch>
            <a:fillRect/>
          </a:stretch>
        </p:blipFill>
        <p:spPr>
          <a:xfrm>
            <a:off x="903338" y="771326"/>
            <a:ext cx="10385324" cy="5845143"/>
          </a:xfrm>
          <a:prstGeom prst="rect">
            <a:avLst/>
          </a:prstGeom>
        </p:spPr>
      </p:pic>
    </p:spTree>
    <p:extLst>
      <p:ext uri="{BB962C8B-B14F-4D97-AF65-F5344CB8AC3E}">
        <p14:creationId xmlns:p14="http://schemas.microsoft.com/office/powerpoint/2010/main" val="37096485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24F1F5-B3DB-A0C6-214C-C8C9057C9CA5}"/>
            </a:ext>
          </a:extLst>
        </p:cNvPr>
        <p:cNvGrpSpPr/>
        <p:nvPr/>
      </p:nvGrpSpPr>
      <p:grpSpPr>
        <a:xfrm>
          <a:off x="0" y="0"/>
          <a:ext cx="0" cy="0"/>
          <a:chOff x="0" y="0"/>
          <a:chExt cx="0" cy="0"/>
        </a:xfrm>
      </p:grpSpPr>
      <p:sp>
        <p:nvSpPr>
          <p:cNvPr id="4" name="TextBox 2">
            <a:extLst>
              <a:ext uri="{FF2B5EF4-FFF2-40B4-BE49-F238E27FC236}">
                <a16:creationId xmlns:a16="http://schemas.microsoft.com/office/drawing/2014/main" id="{65A95F21-18A5-0DE5-9F75-F560E53E2C03}"/>
              </a:ext>
            </a:extLst>
          </p:cNvPr>
          <p:cNvSpPr txBox="1"/>
          <p:nvPr/>
        </p:nvSpPr>
        <p:spPr>
          <a:xfrm>
            <a:off x="0" y="-217540"/>
            <a:ext cx="12142377" cy="885627"/>
          </a:xfrm>
          <a:prstGeom prst="rect">
            <a:avLst/>
          </a:prstGeom>
        </p:spPr>
        <p:txBody>
          <a:bodyPr wrap="square" lIns="0" tIns="0" rIns="0" bIns="0" rtlCol="0" anchor="t">
            <a:spAutoFit/>
          </a:bodyPr>
          <a:lstStyle/>
          <a:p>
            <a:pPr algn="ctr">
              <a:lnSpc>
                <a:spcPts val="7837"/>
              </a:lnSpc>
            </a:pPr>
            <a:r>
              <a:rPr lang="en-US" sz="4000" b="1" dirty="0">
                <a:solidFill>
                  <a:srgbClr val="7884F0"/>
                </a:solidFill>
                <a:latin typeface="Cy Grotesk Key Bold"/>
                <a:ea typeface="Cy Grotesk Key Bold"/>
                <a:cs typeface="Cy Grotesk Key Bold"/>
                <a:sym typeface="Cy Grotesk Key Bold"/>
              </a:rPr>
              <a:t>DASHBOARD – Doctor’s Tab</a:t>
            </a:r>
          </a:p>
        </p:txBody>
      </p:sp>
      <p:pic>
        <p:nvPicPr>
          <p:cNvPr id="2" name="Picture 1">
            <a:extLst>
              <a:ext uri="{FF2B5EF4-FFF2-40B4-BE49-F238E27FC236}">
                <a16:creationId xmlns:a16="http://schemas.microsoft.com/office/drawing/2014/main" id="{FCF657B7-5169-4B8F-DF84-D50697E507E6}"/>
              </a:ext>
            </a:extLst>
          </p:cNvPr>
          <p:cNvPicPr>
            <a:picLocks noChangeAspect="1"/>
          </p:cNvPicPr>
          <p:nvPr/>
        </p:nvPicPr>
        <p:blipFill>
          <a:blip r:embed="rId2"/>
          <a:stretch>
            <a:fillRect/>
          </a:stretch>
        </p:blipFill>
        <p:spPr>
          <a:xfrm>
            <a:off x="633343" y="668087"/>
            <a:ext cx="10875690" cy="6115797"/>
          </a:xfrm>
          <a:prstGeom prst="rect">
            <a:avLst/>
          </a:prstGeom>
        </p:spPr>
      </p:pic>
    </p:spTree>
    <p:extLst>
      <p:ext uri="{BB962C8B-B14F-4D97-AF65-F5344CB8AC3E}">
        <p14:creationId xmlns:p14="http://schemas.microsoft.com/office/powerpoint/2010/main" val="7272102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D30186-27AB-A38D-181C-026C54F5594D}"/>
            </a:ext>
          </a:extLst>
        </p:cNvPr>
        <p:cNvGrpSpPr/>
        <p:nvPr/>
      </p:nvGrpSpPr>
      <p:grpSpPr>
        <a:xfrm>
          <a:off x="0" y="0"/>
          <a:ext cx="0" cy="0"/>
          <a:chOff x="0" y="0"/>
          <a:chExt cx="0" cy="0"/>
        </a:xfrm>
      </p:grpSpPr>
      <p:sp>
        <p:nvSpPr>
          <p:cNvPr id="4" name="TextBox 2">
            <a:extLst>
              <a:ext uri="{FF2B5EF4-FFF2-40B4-BE49-F238E27FC236}">
                <a16:creationId xmlns:a16="http://schemas.microsoft.com/office/drawing/2014/main" id="{20A68447-7467-3AF8-9C9F-67CE99D72DAD}"/>
              </a:ext>
            </a:extLst>
          </p:cNvPr>
          <p:cNvSpPr txBox="1"/>
          <p:nvPr/>
        </p:nvSpPr>
        <p:spPr>
          <a:xfrm>
            <a:off x="0" y="-217540"/>
            <a:ext cx="12142377" cy="885627"/>
          </a:xfrm>
          <a:prstGeom prst="rect">
            <a:avLst/>
          </a:prstGeom>
        </p:spPr>
        <p:txBody>
          <a:bodyPr wrap="square" lIns="0" tIns="0" rIns="0" bIns="0" rtlCol="0" anchor="t">
            <a:spAutoFit/>
          </a:bodyPr>
          <a:lstStyle/>
          <a:p>
            <a:pPr algn="ctr">
              <a:lnSpc>
                <a:spcPts val="7837"/>
              </a:lnSpc>
            </a:pPr>
            <a:r>
              <a:rPr lang="en-US" sz="4000" b="1" dirty="0">
                <a:solidFill>
                  <a:srgbClr val="7884F0"/>
                </a:solidFill>
                <a:latin typeface="Cy Grotesk Key Bold"/>
                <a:ea typeface="Cy Grotesk Key Bold"/>
                <a:cs typeface="Cy Grotesk Key Bold"/>
                <a:sym typeface="Cy Grotesk Key Bold"/>
              </a:rPr>
              <a:t>DASHBOARD – Patient Tab</a:t>
            </a:r>
          </a:p>
        </p:txBody>
      </p:sp>
      <p:pic>
        <p:nvPicPr>
          <p:cNvPr id="3" name="Picture 2">
            <a:extLst>
              <a:ext uri="{FF2B5EF4-FFF2-40B4-BE49-F238E27FC236}">
                <a16:creationId xmlns:a16="http://schemas.microsoft.com/office/drawing/2014/main" id="{37E8A221-B64E-F656-799B-E8682DA4F815}"/>
              </a:ext>
            </a:extLst>
          </p:cNvPr>
          <p:cNvPicPr>
            <a:picLocks noChangeAspect="1"/>
          </p:cNvPicPr>
          <p:nvPr/>
        </p:nvPicPr>
        <p:blipFill>
          <a:blip r:embed="rId2"/>
          <a:stretch>
            <a:fillRect/>
          </a:stretch>
        </p:blipFill>
        <p:spPr>
          <a:xfrm>
            <a:off x="716294" y="668087"/>
            <a:ext cx="10709788" cy="5981033"/>
          </a:xfrm>
          <a:prstGeom prst="rect">
            <a:avLst/>
          </a:prstGeom>
        </p:spPr>
      </p:pic>
    </p:spTree>
    <p:extLst>
      <p:ext uri="{BB962C8B-B14F-4D97-AF65-F5344CB8AC3E}">
        <p14:creationId xmlns:p14="http://schemas.microsoft.com/office/powerpoint/2010/main" val="39565521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2BFB1D-39EA-9EED-C8F9-15EAE92E069F}"/>
            </a:ext>
          </a:extLst>
        </p:cNvPr>
        <p:cNvGrpSpPr/>
        <p:nvPr/>
      </p:nvGrpSpPr>
      <p:grpSpPr>
        <a:xfrm>
          <a:off x="0" y="0"/>
          <a:ext cx="0" cy="0"/>
          <a:chOff x="0" y="0"/>
          <a:chExt cx="0" cy="0"/>
        </a:xfrm>
      </p:grpSpPr>
      <p:sp>
        <p:nvSpPr>
          <p:cNvPr id="4" name="TextBox 2">
            <a:extLst>
              <a:ext uri="{FF2B5EF4-FFF2-40B4-BE49-F238E27FC236}">
                <a16:creationId xmlns:a16="http://schemas.microsoft.com/office/drawing/2014/main" id="{D201BF2E-27A4-EE6E-6FE0-535FF28CA61D}"/>
              </a:ext>
            </a:extLst>
          </p:cNvPr>
          <p:cNvSpPr txBox="1"/>
          <p:nvPr/>
        </p:nvSpPr>
        <p:spPr>
          <a:xfrm>
            <a:off x="49623" y="2543373"/>
            <a:ext cx="12142377" cy="885627"/>
          </a:xfrm>
          <a:prstGeom prst="rect">
            <a:avLst/>
          </a:prstGeom>
        </p:spPr>
        <p:txBody>
          <a:bodyPr wrap="square" lIns="0" tIns="0" rIns="0" bIns="0" rtlCol="0" anchor="t">
            <a:spAutoFit/>
          </a:bodyPr>
          <a:lstStyle/>
          <a:p>
            <a:pPr algn="ctr">
              <a:lnSpc>
                <a:spcPts val="7837"/>
              </a:lnSpc>
            </a:pPr>
            <a:r>
              <a:rPr lang="en-US" sz="4000" b="1" dirty="0">
                <a:solidFill>
                  <a:srgbClr val="7884F0"/>
                </a:solidFill>
                <a:latin typeface="Cy Grotesk Key Bold"/>
                <a:ea typeface="Cy Grotesk Key Bold"/>
                <a:cs typeface="Cy Grotesk Key Bold"/>
                <a:sym typeface="Cy Grotesk Key Bold"/>
              </a:rPr>
              <a:t>Thank You</a:t>
            </a:r>
          </a:p>
        </p:txBody>
      </p:sp>
    </p:spTree>
    <p:extLst>
      <p:ext uri="{BB962C8B-B14F-4D97-AF65-F5344CB8AC3E}">
        <p14:creationId xmlns:p14="http://schemas.microsoft.com/office/powerpoint/2010/main" val="2683831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1416</TotalTime>
  <Words>1157</Words>
  <Application>Microsoft Macintosh PowerPoint</Application>
  <PresentationFormat>Widescreen</PresentationFormat>
  <Paragraphs>89</Paragraphs>
  <Slides>18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Aptos</vt:lpstr>
      <vt:lpstr>Aptos Display</vt:lpstr>
      <vt:lpstr>Arial</vt:lpstr>
      <vt:lpstr>Calibri</vt:lpstr>
      <vt:lpstr>Canva Sans</vt:lpstr>
      <vt:lpstr>Cy Grotesk Key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Microsoft Office User</dc:creator>
  <cp:lastModifiedBy>Microsoft Office User</cp:lastModifiedBy>
  <cp:revision>6</cp:revision>
  <dcterms:created xsi:type="dcterms:W3CDTF">2026-01-22T08:52:13Z</dcterms:created>
  <dcterms:modified xsi:type="dcterms:W3CDTF">2026-01-28T18:42:52Z</dcterms:modified>
</cp:coreProperties>
</file>